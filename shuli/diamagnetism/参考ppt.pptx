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8" r:id="rId2"/>
    <p:sldId id="289" r:id="rId3"/>
    <p:sldId id="290" r:id="rId4"/>
    <p:sldId id="291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CC0099"/>
    <a:srgbClr val="FF0000"/>
    <a:srgbClr val="00CC00"/>
    <a:srgbClr val="0033CC"/>
    <a:srgbClr val="66FFFF"/>
    <a:srgbClr val="333333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033" autoAdjust="0"/>
  </p:normalViewPr>
  <p:slideViewPr>
    <p:cSldViewPr snapToGrid="0">
      <p:cViewPr varScale="1">
        <p:scale>
          <a:sx n="67" d="100"/>
          <a:sy n="67" d="100"/>
        </p:scale>
        <p:origin x="1260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20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12" Type="http://schemas.openxmlformats.org/officeDocument/2006/relationships/image" Target="../media/image19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11" Type="http://schemas.openxmlformats.org/officeDocument/2006/relationships/image" Target="../media/image18.emf"/><Relationship Id="rId5" Type="http://schemas.openxmlformats.org/officeDocument/2006/relationships/image" Target="../media/image12.emf"/><Relationship Id="rId10" Type="http://schemas.openxmlformats.org/officeDocument/2006/relationships/image" Target="../media/image17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Relationship Id="rId14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6.emf"/><Relationship Id="rId18" Type="http://schemas.openxmlformats.org/officeDocument/2006/relationships/image" Target="../media/image4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12" Type="http://schemas.openxmlformats.org/officeDocument/2006/relationships/image" Target="../media/image35.emf"/><Relationship Id="rId17" Type="http://schemas.openxmlformats.org/officeDocument/2006/relationships/image" Target="../media/image40.wmf"/><Relationship Id="rId2" Type="http://schemas.openxmlformats.org/officeDocument/2006/relationships/image" Target="../media/image25.wmf"/><Relationship Id="rId16" Type="http://schemas.openxmlformats.org/officeDocument/2006/relationships/image" Target="../media/image39.wmf"/><Relationship Id="rId1" Type="http://schemas.openxmlformats.org/officeDocument/2006/relationships/image" Target="../media/image24.wmf"/><Relationship Id="rId6" Type="http://schemas.openxmlformats.org/officeDocument/2006/relationships/image" Target="../media/image29.emf"/><Relationship Id="rId11" Type="http://schemas.openxmlformats.org/officeDocument/2006/relationships/image" Target="../media/image34.emf"/><Relationship Id="rId5" Type="http://schemas.openxmlformats.org/officeDocument/2006/relationships/image" Target="../media/image28.emf"/><Relationship Id="rId15" Type="http://schemas.openxmlformats.org/officeDocument/2006/relationships/image" Target="../media/image38.wmf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Relationship Id="rId14" Type="http://schemas.openxmlformats.org/officeDocument/2006/relationships/image" Target="../media/image37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image" Target="../media/image55.wmf"/><Relationship Id="rId3" Type="http://schemas.openxmlformats.org/officeDocument/2006/relationships/image" Target="../media/image45.wmf"/><Relationship Id="rId7" Type="http://schemas.openxmlformats.org/officeDocument/2006/relationships/image" Target="../media/image49.emf"/><Relationship Id="rId12" Type="http://schemas.openxmlformats.org/officeDocument/2006/relationships/image" Target="../media/image54.wmf"/><Relationship Id="rId2" Type="http://schemas.openxmlformats.org/officeDocument/2006/relationships/image" Target="../media/image44.wmf"/><Relationship Id="rId16" Type="http://schemas.openxmlformats.org/officeDocument/2006/relationships/image" Target="../media/image57.emf"/><Relationship Id="rId1" Type="http://schemas.openxmlformats.org/officeDocument/2006/relationships/image" Target="../media/image43.wmf"/><Relationship Id="rId6" Type="http://schemas.openxmlformats.org/officeDocument/2006/relationships/image" Target="../media/image48.emf"/><Relationship Id="rId11" Type="http://schemas.openxmlformats.org/officeDocument/2006/relationships/image" Target="../media/image53.emf"/><Relationship Id="rId5" Type="http://schemas.openxmlformats.org/officeDocument/2006/relationships/image" Target="../media/image47.wmf"/><Relationship Id="rId15" Type="http://schemas.openxmlformats.org/officeDocument/2006/relationships/image" Target="../media/image56.wmf"/><Relationship Id="rId10" Type="http://schemas.openxmlformats.org/officeDocument/2006/relationships/image" Target="../media/image52.emf"/><Relationship Id="rId4" Type="http://schemas.openxmlformats.org/officeDocument/2006/relationships/image" Target="../media/image46.emf"/><Relationship Id="rId9" Type="http://schemas.openxmlformats.org/officeDocument/2006/relationships/image" Target="../media/image51.emf"/><Relationship Id="rId14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2BBCD45-77B5-499B-B1E5-D119F1071F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20583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5AFF8-6605-46D5-8EBC-D02E398FC6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162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82BCD1-E0DE-472A-AE65-99E1F80FA7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9883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2245D-029D-4D6A-A220-8E243DE991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81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F4535-8A04-4069-BF7A-4F914C76E8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95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6F9C7-6F5B-44F3-B5B0-80F1999D2C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2915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7A727-8637-4480-BE61-7472E20CA3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718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49737-0031-447F-A8E3-3DC5FB0B2D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5583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631FF1-0641-4AB3-8720-ACA7B33DF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724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4338BC-9DC0-4F7F-AB62-0CB22EA8FC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554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19ACA-1AD2-4C1B-BF5F-C01BEAB8F8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9742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B33671-E3F2-4C5D-A882-77DC80DC0E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6343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EEA25-CACC-42D8-9759-D0AA091985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416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00B0F0"/>
            </a:gs>
            <a:gs pos="50000">
              <a:schemeClr val="bg1"/>
            </a:gs>
            <a:gs pos="100000">
              <a:srgbClr val="00B0F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50DA0BC-93F6-4B45-B456-52E9EE941A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7.emf"/><Relationship Id="rId10" Type="http://schemas.openxmlformats.org/officeDocument/2006/relationships/image" Target="../media/image4.e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4.emf"/><Relationship Id="rId26" Type="http://schemas.openxmlformats.org/officeDocument/2006/relationships/image" Target="../media/image18.emf"/><Relationship Id="rId3" Type="http://schemas.openxmlformats.org/officeDocument/2006/relationships/image" Target="../media/image22.jpeg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1.emf"/><Relationship Id="rId17" Type="http://schemas.openxmlformats.org/officeDocument/2006/relationships/oleObject" Target="../embeddings/oleObject13.bin"/><Relationship Id="rId25" Type="http://schemas.openxmlformats.org/officeDocument/2006/relationships/oleObject" Target="../embeddings/oleObject1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.emf"/><Relationship Id="rId20" Type="http://schemas.openxmlformats.org/officeDocument/2006/relationships/image" Target="../media/image15.emf"/><Relationship Id="rId29" Type="http://schemas.openxmlformats.org/officeDocument/2006/relationships/oleObject" Target="../embeddings/oleObject19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11" Type="http://schemas.openxmlformats.org/officeDocument/2006/relationships/oleObject" Target="../embeddings/oleObject10.bin"/><Relationship Id="rId24" Type="http://schemas.openxmlformats.org/officeDocument/2006/relationships/image" Target="../media/image17.emf"/><Relationship Id="rId32" Type="http://schemas.openxmlformats.org/officeDocument/2006/relationships/image" Target="../media/image21.wmf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16.bin"/><Relationship Id="rId28" Type="http://schemas.openxmlformats.org/officeDocument/2006/relationships/image" Target="../media/image19.emf"/><Relationship Id="rId10" Type="http://schemas.openxmlformats.org/officeDocument/2006/relationships/image" Target="../media/image10.emf"/><Relationship Id="rId19" Type="http://schemas.openxmlformats.org/officeDocument/2006/relationships/oleObject" Target="../embeddings/oleObject14.bin"/><Relationship Id="rId31" Type="http://schemas.openxmlformats.org/officeDocument/2006/relationships/oleObject" Target="../embeddings/oleObject20.bin"/><Relationship Id="rId4" Type="http://schemas.openxmlformats.org/officeDocument/2006/relationships/image" Target="../media/image23.jpe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2.emf"/><Relationship Id="rId22" Type="http://schemas.openxmlformats.org/officeDocument/2006/relationships/image" Target="../media/image16.emf"/><Relationship Id="rId27" Type="http://schemas.openxmlformats.org/officeDocument/2006/relationships/oleObject" Target="../embeddings/oleObject18.bin"/><Relationship Id="rId30" Type="http://schemas.openxmlformats.org/officeDocument/2006/relationships/image" Target="../media/image20.e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1.wmf"/><Relationship Id="rId26" Type="http://schemas.openxmlformats.org/officeDocument/2006/relationships/image" Target="../media/image35.emf"/><Relationship Id="rId39" Type="http://schemas.openxmlformats.org/officeDocument/2006/relationships/image" Target="../media/image41.wmf"/><Relationship Id="rId21" Type="http://schemas.openxmlformats.org/officeDocument/2006/relationships/oleObject" Target="../embeddings/oleObject30.bin"/><Relationship Id="rId34" Type="http://schemas.openxmlformats.org/officeDocument/2006/relationships/oleObject" Target="../embeddings/oleObject36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8.emf"/><Relationship Id="rId17" Type="http://schemas.openxmlformats.org/officeDocument/2006/relationships/oleObject" Target="../embeddings/oleObject28.bin"/><Relationship Id="rId25" Type="http://schemas.openxmlformats.org/officeDocument/2006/relationships/oleObject" Target="../embeddings/oleObject32.bin"/><Relationship Id="rId33" Type="http://schemas.openxmlformats.org/officeDocument/2006/relationships/image" Target="../media/image38.wmf"/><Relationship Id="rId38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29" Type="http://schemas.openxmlformats.org/officeDocument/2006/relationships/oleObject" Target="../embeddings/oleObject34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34.emf"/><Relationship Id="rId32" Type="http://schemas.openxmlformats.org/officeDocument/2006/relationships/oleObject" Target="../embeddings/oleObject35.bin"/><Relationship Id="rId37" Type="http://schemas.openxmlformats.org/officeDocument/2006/relationships/image" Target="../media/image40.w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28" Type="http://schemas.openxmlformats.org/officeDocument/2006/relationships/image" Target="../media/image36.emf"/><Relationship Id="rId36" Type="http://schemas.openxmlformats.org/officeDocument/2006/relationships/oleObject" Target="../embeddings/oleObject37.bin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29.bin"/><Relationship Id="rId31" Type="http://schemas.openxmlformats.org/officeDocument/2006/relationships/image" Target="../media/image42.jpeg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9.emf"/><Relationship Id="rId22" Type="http://schemas.openxmlformats.org/officeDocument/2006/relationships/image" Target="../media/image33.wmf"/><Relationship Id="rId27" Type="http://schemas.openxmlformats.org/officeDocument/2006/relationships/oleObject" Target="../embeddings/oleObject33.bin"/><Relationship Id="rId30" Type="http://schemas.openxmlformats.org/officeDocument/2006/relationships/image" Target="../media/image37.emf"/><Relationship Id="rId35" Type="http://schemas.openxmlformats.org/officeDocument/2006/relationships/image" Target="../media/image39.wmf"/><Relationship Id="rId8" Type="http://schemas.openxmlformats.org/officeDocument/2006/relationships/image" Target="../media/image26.wmf"/><Relationship Id="rId3" Type="http://schemas.openxmlformats.org/officeDocument/2006/relationships/oleObject" Target="../embeddings/oleObject21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4.bin"/><Relationship Id="rId18" Type="http://schemas.openxmlformats.org/officeDocument/2006/relationships/image" Target="../media/image50.emf"/><Relationship Id="rId26" Type="http://schemas.openxmlformats.org/officeDocument/2006/relationships/image" Target="../media/image54.wmf"/><Relationship Id="rId3" Type="http://schemas.openxmlformats.org/officeDocument/2006/relationships/oleObject" Target="../embeddings/oleObject39.bin"/><Relationship Id="rId21" Type="http://schemas.openxmlformats.org/officeDocument/2006/relationships/oleObject" Target="../embeddings/oleObject48.bin"/><Relationship Id="rId34" Type="http://schemas.openxmlformats.org/officeDocument/2006/relationships/oleObject" Target="../embeddings/oleObject54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46.bin"/><Relationship Id="rId25" Type="http://schemas.openxmlformats.org/officeDocument/2006/relationships/oleObject" Target="../embeddings/oleObject50.bin"/><Relationship Id="rId33" Type="http://schemas.openxmlformats.org/officeDocument/2006/relationships/image" Target="../media/image5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.emf"/><Relationship Id="rId20" Type="http://schemas.openxmlformats.org/officeDocument/2006/relationships/image" Target="../media/image51.emf"/><Relationship Id="rId29" Type="http://schemas.openxmlformats.org/officeDocument/2006/relationships/image" Target="../media/image58.jpeg"/><Relationship Id="rId1" Type="http://schemas.openxmlformats.org/officeDocument/2006/relationships/vmlDrawing" Target="../drawings/vmlDrawing4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3.bin"/><Relationship Id="rId24" Type="http://schemas.openxmlformats.org/officeDocument/2006/relationships/image" Target="../media/image53.emf"/><Relationship Id="rId32" Type="http://schemas.openxmlformats.org/officeDocument/2006/relationships/oleObject" Target="../embeddings/oleObject5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23" Type="http://schemas.openxmlformats.org/officeDocument/2006/relationships/oleObject" Target="../embeddings/oleObject49.bin"/><Relationship Id="rId28" Type="http://schemas.openxmlformats.org/officeDocument/2006/relationships/image" Target="../media/image55.wmf"/><Relationship Id="rId10" Type="http://schemas.openxmlformats.org/officeDocument/2006/relationships/image" Target="../media/image46.emf"/><Relationship Id="rId19" Type="http://schemas.openxmlformats.org/officeDocument/2006/relationships/oleObject" Target="../embeddings/oleObject47.bin"/><Relationship Id="rId31" Type="http://schemas.openxmlformats.org/officeDocument/2006/relationships/image" Target="../media/image38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8.emf"/><Relationship Id="rId22" Type="http://schemas.openxmlformats.org/officeDocument/2006/relationships/image" Target="../media/image52.emf"/><Relationship Id="rId27" Type="http://schemas.openxmlformats.org/officeDocument/2006/relationships/oleObject" Target="../embeddings/oleObject51.bin"/><Relationship Id="rId30" Type="http://schemas.openxmlformats.org/officeDocument/2006/relationships/oleObject" Target="../embeddings/oleObject52.bin"/><Relationship Id="rId35" Type="http://schemas.openxmlformats.org/officeDocument/2006/relationships/image" Target="../media/image57.emf"/><Relationship Id="rId8" Type="http://schemas.openxmlformats.org/officeDocument/2006/relationships/image" Target="../media/image4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425450" y="625475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itchFamily="18" charset="0"/>
              </a:rPr>
              <a:t>（</a:t>
            </a:r>
            <a:r>
              <a:rPr kumimoji="1" lang="en-US" altLang="zh-CN" sz="2800" b="1">
                <a:latin typeface="Times New Roman" pitchFamily="18" charset="0"/>
              </a:rPr>
              <a:t>2</a:t>
            </a:r>
            <a:r>
              <a:rPr kumimoji="1" lang="zh-CN" altLang="en-US" sz="2800" b="1">
                <a:latin typeface="Times New Roman" pitchFamily="18" charset="0"/>
              </a:rPr>
              <a:t>）物质的磁性起源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044575" y="1174750"/>
            <a:ext cx="3830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Font typeface="Wingdings" pitchFamily="2" charset="2"/>
              <a:buChar char="l"/>
            </a:pPr>
            <a:r>
              <a:rPr kumimoji="1" lang="zh-CN" altLang="en-US" sz="2800" b="1">
                <a:latin typeface="Times New Roman" pitchFamily="18" charset="0"/>
                <a:ea typeface="黑体" pitchFamily="2" charset="-122"/>
              </a:rPr>
              <a:t>分子磁矩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247775" y="1779588"/>
            <a:ext cx="4176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itchFamily="18" charset="0"/>
              </a:rPr>
              <a:t>分子中电子的运动：</a:t>
            </a:r>
          </a:p>
        </p:txBody>
      </p:sp>
      <p:sp>
        <p:nvSpPr>
          <p:cNvPr id="38917" name="AutoShape 5"/>
          <p:cNvSpPr>
            <a:spLocks/>
          </p:cNvSpPr>
          <p:nvPr/>
        </p:nvSpPr>
        <p:spPr bwMode="auto">
          <a:xfrm>
            <a:off x="1189038" y="2693988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1417638" y="2463800"/>
            <a:ext cx="2868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itchFamily="18" charset="0"/>
              </a:rPr>
              <a:t>绕核运动</a:t>
            </a:r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2846388" y="2463800"/>
            <a:ext cx="2640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</a:rPr>
              <a:t>→</a:t>
            </a:r>
            <a:r>
              <a:rPr kumimoji="1" lang="zh-CN" altLang="en-US" sz="2800" b="1">
                <a:latin typeface="Times New Roman" pitchFamily="18" charset="0"/>
              </a:rPr>
              <a:t>电流环</a:t>
            </a:r>
          </a:p>
        </p:txBody>
      </p:sp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4286250" y="2463800"/>
            <a:ext cx="306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itchFamily="18" charset="0"/>
                <a:ea typeface="黑体" pitchFamily="2" charset="-122"/>
              </a:rPr>
              <a:t>→</a:t>
            </a:r>
            <a:r>
              <a:rPr kumimoji="1" lang="zh-CN" altLang="en-US" sz="2800" b="1">
                <a:latin typeface="Times New Roman" pitchFamily="18" charset="0"/>
                <a:ea typeface="黑体" pitchFamily="2" charset="-122"/>
              </a:rPr>
              <a:t>轨道磁矩</a:t>
            </a: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1417638" y="3059113"/>
            <a:ext cx="272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itchFamily="18" charset="0"/>
              </a:rPr>
              <a:t>自旋运动</a:t>
            </a: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2941638" y="3059113"/>
            <a:ext cx="321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</a:rPr>
              <a:t>→</a:t>
            </a:r>
            <a:r>
              <a:rPr kumimoji="1" lang="zh-CN" altLang="en-US" sz="2800" b="1">
                <a:latin typeface="Times New Roman" pitchFamily="18" charset="0"/>
                <a:ea typeface="黑体" pitchFamily="2" charset="-122"/>
              </a:rPr>
              <a:t>自旋磁矩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910138" y="3148013"/>
            <a:ext cx="444500" cy="482600"/>
            <a:chOff x="3001" y="1720"/>
            <a:chExt cx="280" cy="304"/>
          </a:xfrm>
        </p:grpSpPr>
        <p:graphicFrame>
          <p:nvGraphicFramePr>
            <p:cNvPr id="11271" name="Object 12"/>
            <p:cNvGraphicFramePr>
              <a:graphicFrameLocks noChangeAspect="1"/>
            </p:cNvGraphicFramePr>
            <p:nvPr/>
          </p:nvGraphicFramePr>
          <p:xfrm>
            <a:off x="3001" y="1720"/>
            <a:ext cx="28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7" name="Equation" r:id="rId3" imgW="444240" imgH="482400" progId="Equation.DSMT4">
                    <p:embed/>
                  </p:oleObj>
                </mc:Choice>
                <mc:Fallback>
                  <p:oleObj name="Equation" r:id="rId3" imgW="444240" imgH="4824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1" y="1720"/>
                          <a:ext cx="280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0" name="Line 13"/>
            <p:cNvSpPr>
              <a:spLocks noChangeShapeType="1"/>
            </p:cNvSpPr>
            <p:nvPr/>
          </p:nvSpPr>
          <p:spPr bwMode="auto">
            <a:xfrm>
              <a:off x="3084" y="1774"/>
              <a:ext cx="1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8927" name="Object 15"/>
          <p:cNvGraphicFramePr>
            <a:graphicFrameLocks noChangeAspect="1"/>
          </p:cNvGraphicFramePr>
          <p:nvPr/>
        </p:nvGraphicFramePr>
        <p:xfrm>
          <a:off x="6315075" y="2576513"/>
          <a:ext cx="12700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8" name="Equation" r:id="rId5" imgW="1320480" imgH="431640" progId="Equation.DSMT4">
                  <p:embed/>
                </p:oleObj>
              </mc:Choice>
              <mc:Fallback>
                <p:oleObj name="Equation" r:id="rId5" imgW="1320480" imgH="4316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5075" y="2576513"/>
                        <a:ext cx="127000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8" name="Text Box 16"/>
          <p:cNvSpPr txBox="1">
            <a:spLocks noChangeArrowheads="1"/>
          </p:cNvSpPr>
          <p:nvPr/>
        </p:nvSpPr>
        <p:spPr bwMode="auto">
          <a:xfrm>
            <a:off x="962025" y="3917950"/>
            <a:ext cx="5049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itchFamily="18" charset="0"/>
              </a:rPr>
              <a:t>两种运动磁效应的总和</a:t>
            </a: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4822825" y="4173538"/>
            <a:ext cx="685800" cy="166687"/>
            <a:chOff x="3888" y="3072"/>
            <a:chExt cx="624" cy="96"/>
          </a:xfrm>
        </p:grpSpPr>
        <p:sp>
          <p:nvSpPr>
            <p:cNvPr id="11308" name="Line 18"/>
            <p:cNvSpPr>
              <a:spLocks noChangeShapeType="1"/>
            </p:cNvSpPr>
            <p:nvPr/>
          </p:nvSpPr>
          <p:spPr bwMode="auto">
            <a:xfrm>
              <a:off x="3888" y="3072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9" name="Line 19"/>
            <p:cNvSpPr>
              <a:spLocks noChangeShapeType="1"/>
            </p:cNvSpPr>
            <p:nvPr/>
          </p:nvSpPr>
          <p:spPr bwMode="auto">
            <a:xfrm>
              <a:off x="3888" y="3168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932" name="Text Box 20"/>
          <p:cNvSpPr txBox="1">
            <a:spLocks noChangeArrowheads="1"/>
          </p:cNvSpPr>
          <p:nvPr/>
        </p:nvSpPr>
        <p:spPr bwMode="auto">
          <a:xfrm>
            <a:off x="4427538" y="3632200"/>
            <a:ext cx="1568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</a:rPr>
              <a:t>等效</a:t>
            </a:r>
          </a:p>
        </p:txBody>
      </p:sp>
      <p:sp>
        <p:nvSpPr>
          <p:cNvPr id="38933" name="Text Box 21"/>
          <p:cNvSpPr txBox="1">
            <a:spLocks noChangeArrowheads="1"/>
          </p:cNvSpPr>
          <p:nvPr/>
        </p:nvSpPr>
        <p:spPr bwMode="auto">
          <a:xfrm>
            <a:off x="5518150" y="3940175"/>
            <a:ext cx="3086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itchFamily="18" charset="0"/>
                <a:ea typeface="黑体" pitchFamily="2" charset="-122"/>
              </a:rPr>
              <a:t>分子圆电流</a:t>
            </a:r>
          </a:p>
        </p:txBody>
      </p:sp>
      <p:graphicFrame>
        <p:nvGraphicFramePr>
          <p:cNvPr id="38934" name="Object 22"/>
          <p:cNvGraphicFramePr>
            <a:graphicFrameLocks noChangeAspect="1"/>
          </p:cNvGraphicFramePr>
          <p:nvPr/>
        </p:nvGraphicFramePr>
        <p:xfrm>
          <a:off x="1597025" y="4878388"/>
          <a:ext cx="36385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" name="Equation" r:id="rId7" imgW="3213000" imgH="507960" progId="Equation.DSMT4">
                  <p:embed/>
                </p:oleObj>
              </mc:Choice>
              <mc:Fallback>
                <p:oleObj name="Equation" r:id="rId7" imgW="3213000" imgH="50796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4878388"/>
                        <a:ext cx="36385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5" name="Oval 23"/>
          <p:cNvSpPr>
            <a:spLocks noChangeArrowheads="1"/>
          </p:cNvSpPr>
          <p:nvPr/>
        </p:nvSpPr>
        <p:spPr bwMode="auto">
          <a:xfrm>
            <a:off x="5724525" y="4941888"/>
            <a:ext cx="2209800" cy="6858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6867525" y="4554538"/>
            <a:ext cx="425450" cy="692150"/>
            <a:chOff x="4800" y="1528"/>
            <a:chExt cx="268" cy="436"/>
          </a:xfrm>
        </p:grpSpPr>
        <p:graphicFrame>
          <p:nvGraphicFramePr>
            <p:cNvPr id="11270" name="Object 25"/>
            <p:cNvGraphicFramePr>
              <a:graphicFrameLocks noChangeAspect="1"/>
            </p:cNvGraphicFramePr>
            <p:nvPr/>
          </p:nvGraphicFramePr>
          <p:xfrm>
            <a:off x="4900" y="1528"/>
            <a:ext cx="16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00" name="Equation" r:id="rId9" imgW="266400" imgH="406080" progId="Equation.DSMT4">
                    <p:embed/>
                  </p:oleObj>
                </mc:Choice>
                <mc:Fallback>
                  <p:oleObj name="Equation" r:id="rId9" imgW="266400" imgH="40608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0" y="1528"/>
                          <a:ext cx="16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07" name="Line 26"/>
            <p:cNvSpPr>
              <a:spLocks noChangeShapeType="1"/>
            </p:cNvSpPr>
            <p:nvPr/>
          </p:nvSpPr>
          <p:spPr bwMode="auto">
            <a:xfrm>
              <a:off x="4800" y="158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8939" name="Line 27"/>
          <p:cNvSpPr>
            <a:spLocks noChangeShapeType="1"/>
          </p:cNvSpPr>
          <p:nvPr/>
        </p:nvSpPr>
        <p:spPr bwMode="auto">
          <a:xfrm>
            <a:off x="6832600" y="5627688"/>
            <a:ext cx="220663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941" name="Text Box 29"/>
          <p:cNvSpPr txBox="1">
            <a:spLocks noChangeArrowheads="1"/>
          </p:cNvSpPr>
          <p:nvPr/>
        </p:nvSpPr>
        <p:spPr bwMode="auto">
          <a:xfrm>
            <a:off x="2124075" y="5754688"/>
            <a:ext cx="5122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——</a:t>
            </a:r>
            <a:r>
              <a:rPr kumimoji="1" lang="zh-CN" altLang="en-US" sz="2800" b="1">
                <a:latin typeface="Times New Roman" pitchFamily="18" charset="0"/>
              </a:rPr>
              <a:t>分子的  “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固有磁矩</a:t>
            </a:r>
            <a:r>
              <a:rPr kumimoji="1" lang="zh-CN" altLang="en-US" sz="2800" b="1">
                <a:latin typeface="Times New Roman" pitchFamily="18" charset="0"/>
              </a:rPr>
              <a:t>”</a:t>
            </a:r>
          </a:p>
        </p:txBody>
      </p:sp>
      <p:sp>
        <p:nvSpPr>
          <p:cNvPr id="38942" name="Line 30"/>
          <p:cNvSpPr>
            <a:spLocks noChangeShapeType="1"/>
          </p:cNvSpPr>
          <p:nvPr/>
        </p:nvSpPr>
        <p:spPr bwMode="auto">
          <a:xfrm flipH="1">
            <a:off x="6659563" y="2005013"/>
            <a:ext cx="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8943" name="Object 31"/>
          <p:cNvGraphicFramePr>
            <a:graphicFrameLocks noChangeAspect="1"/>
          </p:cNvGraphicFramePr>
          <p:nvPr/>
        </p:nvGraphicFramePr>
        <p:xfrm>
          <a:off x="6731000" y="2078038"/>
          <a:ext cx="46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1" name="Equation" r:id="rId11" imgW="469800" imgH="431640" progId="Equation.DSMT4">
                  <p:embed/>
                </p:oleObj>
              </mc:Choice>
              <mc:Fallback>
                <p:oleObj name="Equation" r:id="rId11" imgW="469800" imgH="4316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2078038"/>
                        <a:ext cx="469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5" name="Text Box 33"/>
          <p:cNvSpPr txBox="1">
            <a:spLocks noChangeArrowheads="1"/>
          </p:cNvSpPr>
          <p:nvPr/>
        </p:nvSpPr>
        <p:spPr bwMode="auto">
          <a:xfrm>
            <a:off x="7158038" y="4656138"/>
            <a:ext cx="1531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b="1">
                <a:latin typeface="Times New Roman" pitchFamily="18" charset="0"/>
              </a:rPr>
              <a:t>分子</a:t>
            </a:r>
          </a:p>
        </p:txBody>
      </p: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5626100" y="588963"/>
            <a:ext cx="2133600" cy="1619250"/>
            <a:chOff x="2544" y="141"/>
            <a:chExt cx="1344" cy="1020"/>
          </a:xfrm>
        </p:grpSpPr>
        <p:sp>
          <p:nvSpPr>
            <p:cNvPr id="11299" name="Oval 35"/>
            <p:cNvSpPr>
              <a:spLocks noChangeArrowheads="1"/>
            </p:cNvSpPr>
            <p:nvPr/>
          </p:nvSpPr>
          <p:spPr bwMode="auto">
            <a:xfrm>
              <a:off x="2544" y="656"/>
              <a:ext cx="1344" cy="432"/>
            </a:xfrm>
            <a:prstGeom prst="ellipse">
              <a:avLst/>
            </a:prstGeom>
            <a:noFill/>
            <a:ln w="38100">
              <a:solidFill>
                <a:srgbClr val="8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0" name="Oval 36"/>
            <p:cNvSpPr>
              <a:spLocks noChangeArrowheads="1"/>
            </p:cNvSpPr>
            <p:nvPr/>
          </p:nvSpPr>
          <p:spPr bwMode="auto">
            <a:xfrm>
              <a:off x="3600" y="944"/>
              <a:ext cx="144" cy="144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zh-CN" sz="2800" b="1">
                <a:latin typeface="Times New Roman" pitchFamily="18" charset="0"/>
              </a:endParaRPr>
            </a:p>
          </p:txBody>
        </p:sp>
        <p:sp>
          <p:nvSpPr>
            <p:cNvPr id="11301" name="Line 37"/>
            <p:cNvSpPr>
              <a:spLocks noChangeShapeType="1"/>
            </p:cNvSpPr>
            <p:nvPr/>
          </p:nvSpPr>
          <p:spPr bwMode="auto">
            <a:xfrm flipV="1">
              <a:off x="3792" y="908"/>
              <a:ext cx="96" cy="84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2" name="Line 38"/>
            <p:cNvSpPr>
              <a:spLocks noChangeShapeType="1"/>
            </p:cNvSpPr>
            <p:nvPr/>
          </p:nvSpPr>
          <p:spPr bwMode="auto">
            <a:xfrm flipV="1">
              <a:off x="3206" y="272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3" name="Text Box 39"/>
            <p:cNvSpPr txBox="1">
              <a:spLocks noChangeArrowheads="1"/>
            </p:cNvSpPr>
            <p:nvPr/>
          </p:nvSpPr>
          <p:spPr bwMode="auto">
            <a:xfrm>
              <a:off x="3244" y="141"/>
              <a:ext cx="3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 i="1">
                  <a:latin typeface="Times New Roman" pitchFamily="18" charset="0"/>
                  <a:sym typeface="Symbol" pitchFamily="18" charset="2"/>
                </a:rPr>
                <a:t></a:t>
              </a:r>
              <a:endParaRPr kumimoji="1" lang="en-US" altLang="zh-CN" sz="2800" b="1" i="1">
                <a:latin typeface="Times New Roman" pitchFamily="18" charset="0"/>
              </a:endParaRPr>
            </a:p>
          </p:txBody>
        </p:sp>
        <p:sp>
          <p:nvSpPr>
            <p:cNvPr id="11304" name="Oval 40"/>
            <p:cNvSpPr>
              <a:spLocks noChangeArrowheads="1"/>
            </p:cNvSpPr>
            <p:nvPr/>
          </p:nvSpPr>
          <p:spPr bwMode="auto">
            <a:xfrm>
              <a:off x="3072" y="752"/>
              <a:ext cx="240" cy="24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kumimoji="1" lang="en-US" altLang="zh-CN" sz="2800" b="1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1305" name="Text Box 41"/>
            <p:cNvSpPr txBox="1">
              <a:spLocks noChangeArrowheads="1"/>
            </p:cNvSpPr>
            <p:nvPr/>
          </p:nvSpPr>
          <p:spPr bwMode="auto">
            <a:xfrm>
              <a:off x="3571" y="796"/>
              <a:ext cx="2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11306" name="AutoShape 42"/>
            <p:cNvSpPr>
              <a:spLocks noChangeArrowheads="1"/>
            </p:cNvSpPr>
            <p:nvPr/>
          </p:nvSpPr>
          <p:spPr bwMode="auto">
            <a:xfrm>
              <a:off x="3011" y="204"/>
              <a:ext cx="302" cy="281"/>
            </a:xfrm>
            <a:prstGeom prst="curvedRightArrow">
              <a:avLst>
                <a:gd name="adj1" fmla="val 14875"/>
                <a:gd name="adj2" fmla="val 34875"/>
                <a:gd name="adj3" fmla="val 35824"/>
              </a:avLst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55" name="Text Box 43"/>
          <p:cNvSpPr txBox="1">
            <a:spLocks noChangeArrowheads="1"/>
          </p:cNvSpPr>
          <p:nvPr/>
        </p:nvSpPr>
        <p:spPr bwMode="auto">
          <a:xfrm>
            <a:off x="6432550" y="2673350"/>
            <a:ext cx="679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itchFamily="18" charset="0"/>
              </a:rPr>
              <a:t>轨</a:t>
            </a:r>
          </a:p>
        </p:txBody>
      </p:sp>
      <p:sp>
        <p:nvSpPr>
          <p:cNvPr id="38956" name="Text Box 44"/>
          <p:cNvSpPr txBox="1">
            <a:spLocks noChangeArrowheads="1"/>
          </p:cNvSpPr>
          <p:nvPr/>
        </p:nvSpPr>
        <p:spPr bwMode="auto">
          <a:xfrm>
            <a:off x="3536950" y="5059363"/>
            <a:ext cx="679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itchFamily="18" charset="0"/>
              </a:rPr>
              <a:t>轨</a:t>
            </a:r>
          </a:p>
        </p:txBody>
      </p: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535738" y="3033713"/>
            <a:ext cx="2608262" cy="966787"/>
            <a:chOff x="3571" y="3711"/>
            <a:chExt cx="1643" cy="609"/>
          </a:xfrm>
        </p:grpSpPr>
        <p:graphicFrame>
          <p:nvGraphicFramePr>
            <p:cNvPr id="11269" name="Object 45"/>
            <p:cNvGraphicFramePr>
              <a:graphicFrameLocks noChangeAspect="1"/>
            </p:cNvGraphicFramePr>
            <p:nvPr/>
          </p:nvGraphicFramePr>
          <p:xfrm>
            <a:off x="4124" y="3711"/>
            <a:ext cx="1007" cy="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02" name="Equation" r:id="rId13" imgW="1536480" imgH="927000" progId="Equation.DSMT4">
                    <p:embed/>
                  </p:oleObj>
                </mc:Choice>
                <mc:Fallback>
                  <p:oleObj name="Equation" r:id="rId13" imgW="1536480" imgH="92700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4" y="3711"/>
                          <a:ext cx="1007" cy="6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7" name="Rectangle 48"/>
            <p:cNvSpPr>
              <a:spLocks noChangeArrowheads="1"/>
            </p:cNvSpPr>
            <p:nvPr/>
          </p:nvSpPr>
          <p:spPr bwMode="auto">
            <a:xfrm>
              <a:off x="4080" y="3720"/>
              <a:ext cx="1134" cy="572"/>
            </a:xfrm>
            <a:prstGeom prst="rect">
              <a:avLst/>
            </a:prstGeom>
            <a:noFill/>
            <a:ln w="28575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1298" name="Picture 49" descr="dove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1" y="3745"/>
              <a:ext cx="555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296" name="Text Box 75"/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75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75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2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75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" fill="hold"/>
                                        <p:tgtEl>
                                          <p:spTgt spid="38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8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2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3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75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75" fill="hold"/>
                                        <p:tgtEl>
                                          <p:spTgt spid="38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autoUpdateAnimBg="0"/>
      <p:bldP spid="38916" grpId="0" autoUpdateAnimBg="0"/>
      <p:bldP spid="38917" grpId="0" animBg="1"/>
      <p:bldP spid="38918" grpId="0" autoUpdateAnimBg="0"/>
      <p:bldP spid="38919" grpId="0" autoUpdateAnimBg="0"/>
      <p:bldP spid="38920" grpId="0" autoUpdateAnimBg="0"/>
      <p:bldP spid="38921" grpId="0" autoUpdateAnimBg="0"/>
      <p:bldP spid="38922" grpId="0" autoUpdateAnimBg="0"/>
      <p:bldP spid="38928" grpId="0" autoUpdateAnimBg="0"/>
      <p:bldP spid="38932" grpId="0" autoUpdateAnimBg="0"/>
      <p:bldP spid="38933" grpId="0" autoUpdateAnimBg="0"/>
      <p:bldP spid="38935" grpId="0" animBg="1"/>
      <p:bldP spid="38939" grpId="0" animBg="1"/>
      <p:bldP spid="38941" grpId="0" autoUpdateAnimBg="0"/>
      <p:bldP spid="38942" grpId="0" animBg="1"/>
      <p:bldP spid="38945" grpId="0"/>
      <p:bldP spid="38955" grpId="0"/>
      <p:bldP spid="3895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733425" y="488950"/>
            <a:ext cx="472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Font typeface="Wingdings" pitchFamily="2" charset="2"/>
              <a:buChar char="l"/>
            </a:pPr>
            <a:r>
              <a:rPr kumimoji="1" lang="zh-CN" altLang="en-US" sz="2800" b="1">
                <a:latin typeface="Times New Roman" pitchFamily="18" charset="0"/>
              </a:rPr>
              <a:t>分子的 “</a:t>
            </a:r>
            <a:r>
              <a:rPr kumimoji="1" lang="zh-CN" altLang="en-US" sz="2800" b="1">
                <a:latin typeface="Times New Roman" pitchFamily="18" charset="0"/>
                <a:ea typeface="黑体" pitchFamily="2" charset="-122"/>
              </a:rPr>
              <a:t>附加磁矩</a:t>
            </a:r>
            <a:r>
              <a:rPr kumimoji="1" lang="zh-CN" altLang="en-US" sz="2800" b="1">
                <a:latin typeface="Times New Roman" pitchFamily="18" charset="0"/>
              </a:rPr>
              <a:t>”</a:t>
            </a:r>
            <a:endParaRPr kumimoji="1" lang="zh-CN" altLang="en-US" sz="2800" b="1">
              <a:solidFill>
                <a:srgbClr val="003366"/>
              </a:solidFill>
              <a:latin typeface="Times New Roman" pitchFamily="18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580063" y="1122363"/>
            <a:ext cx="2709862" cy="2306637"/>
            <a:chOff x="528" y="2723"/>
            <a:chExt cx="1707" cy="1453"/>
          </a:xfrm>
        </p:grpSpPr>
        <p:sp>
          <p:nvSpPr>
            <p:cNvPr id="12342" name="AutoShape 4" descr="深色木质"/>
            <p:cNvSpPr>
              <a:spLocks noChangeArrowheads="1"/>
            </p:cNvSpPr>
            <p:nvPr/>
          </p:nvSpPr>
          <p:spPr bwMode="auto">
            <a:xfrm rot="2178065">
              <a:off x="1316" y="3680"/>
              <a:ext cx="373" cy="485"/>
            </a:xfrm>
            <a:prstGeom prst="flowChartMerg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3" name="Oval 5" descr="编织物"/>
            <p:cNvSpPr>
              <a:spLocks noChangeArrowheads="1"/>
            </p:cNvSpPr>
            <p:nvPr/>
          </p:nvSpPr>
          <p:spPr bwMode="auto">
            <a:xfrm rot="1971762">
              <a:off x="1443" y="3635"/>
              <a:ext cx="412" cy="173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4" name="Line 6"/>
            <p:cNvSpPr>
              <a:spLocks noChangeShapeType="1"/>
            </p:cNvSpPr>
            <p:nvPr/>
          </p:nvSpPr>
          <p:spPr bwMode="auto">
            <a:xfrm flipV="1">
              <a:off x="1680" y="3216"/>
              <a:ext cx="456" cy="507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45" name="Group 7"/>
            <p:cNvGrpSpPr>
              <a:grpSpLocks/>
            </p:cNvGrpSpPr>
            <p:nvPr/>
          </p:nvGrpSpPr>
          <p:grpSpPr bwMode="auto">
            <a:xfrm>
              <a:off x="1606" y="3542"/>
              <a:ext cx="499" cy="235"/>
              <a:chOff x="4268" y="2126"/>
              <a:chExt cx="577" cy="327"/>
            </a:xfrm>
          </p:grpSpPr>
          <p:sp>
            <p:nvSpPr>
              <p:cNvPr id="12357" name="Arc 8"/>
              <p:cNvSpPr>
                <a:spLocks/>
              </p:cNvSpPr>
              <p:nvPr/>
            </p:nvSpPr>
            <p:spPr bwMode="auto">
              <a:xfrm rot="1893941">
                <a:off x="4268" y="2126"/>
                <a:ext cx="577" cy="174"/>
              </a:xfrm>
              <a:custGeom>
                <a:avLst/>
                <a:gdLst>
                  <a:gd name="T0" fmla="*/ 0 w 21600"/>
                  <a:gd name="T1" fmla="*/ 0 h 30753"/>
                  <a:gd name="T2" fmla="*/ 0 w 21600"/>
                  <a:gd name="T3" fmla="*/ 0 h 30753"/>
                  <a:gd name="T4" fmla="*/ 0 w 21600"/>
                  <a:gd name="T5" fmla="*/ 0 h 3075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0753"/>
                  <a:gd name="T11" fmla="*/ 21600 w 21600"/>
                  <a:gd name="T12" fmla="*/ 30753 h 307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0753" fill="none" extrusionOk="0">
                    <a:moveTo>
                      <a:pt x="17725" y="30752"/>
                    </a:moveTo>
                    <a:cubicBezTo>
                      <a:pt x="7459" y="28880"/>
                      <a:pt x="0" y="19937"/>
                      <a:pt x="0" y="9503"/>
                    </a:cubicBezTo>
                    <a:cubicBezTo>
                      <a:pt x="-1" y="6208"/>
                      <a:pt x="753" y="2958"/>
                      <a:pt x="2202" y="-1"/>
                    </a:cubicBezTo>
                  </a:path>
                  <a:path w="21600" h="30753" stroke="0" extrusionOk="0">
                    <a:moveTo>
                      <a:pt x="17725" y="30752"/>
                    </a:moveTo>
                    <a:cubicBezTo>
                      <a:pt x="7459" y="28880"/>
                      <a:pt x="0" y="19937"/>
                      <a:pt x="0" y="9503"/>
                    </a:cubicBezTo>
                    <a:cubicBezTo>
                      <a:pt x="-1" y="6208"/>
                      <a:pt x="753" y="2958"/>
                      <a:pt x="2202" y="-1"/>
                    </a:cubicBezTo>
                    <a:lnTo>
                      <a:pt x="21600" y="9503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58" name="AutoShape 9"/>
              <p:cNvSpPr>
                <a:spLocks noChangeArrowheads="1"/>
              </p:cNvSpPr>
              <p:nvPr/>
            </p:nvSpPr>
            <p:spPr bwMode="auto">
              <a:xfrm rot="7212430">
                <a:off x="4634" y="2309"/>
                <a:ext cx="144" cy="144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346" name="Rectangle 10"/>
            <p:cNvSpPr>
              <a:spLocks noChangeArrowheads="1"/>
            </p:cNvSpPr>
            <p:nvPr/>
          </p:nvSpPr>
          <p:spPr bwMode="auto">
            <a:xfrm>
              <a:off x="2070" y="3639"/>
              <a:ext cx="1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3000" b="1" i="1">
                  <a:latin typeface="Symbol" pitchFamily="18" charset="2"/>
                </a:rPr>
                <a:t>w</a:t>
              </a:r>
              <a:endParaRPr kumimoji="1" lang="en-US" altLang="zh-CN" sz="2800" i="1">
                <a:latin typeface="Times New Roman" pitchFamily="18" charset="0"/>
              </a:endParaRPr>
            </a:p>
          </p:txBody>
        </p:sp>
        <p:sp>
          <p:nvSpPr>
            <p:cNvPr id="12347" name="Line 11"/>
            <p:cNvSpPr>
              <a:spLocks noChangeShapeType="1"/>
            </p:cNvSpPr>
            <p:nvPr/>
          </p:nvSpPr>
          <p:spPr bwMode="auto">
            <a:xfrm flipH="1">
              <a:off x="694" y="4176"/>
              <a:ext cx="13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8" name="Oval 12"/>
            <p:cNvSpPr>
              <a:spLocks noChangeArrowheads="1"/>
            </p:cNvSpPr>
            <p:nvPr/>
          </p:nvSpPr>
          <p:spPr bwMode="auto">
            <a:xfrm>
              <a:off x="528" y="3069"/>
              <a:ext cx="1584" cy="291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chemeClr val="tx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9" name="Line 13"/>
            <p:cNvSpPr>
              <a:spLocks noChangeShapeType="1"/>
            </p:cNvSpPr>
            <p:nvPr/>
          </p:nvSpPr>
          <p:spPr bwMode="auto">
            <a:xfrm flipV="1">
              <a:off x="1316" y="2723"/>
              <a:ext cx="0" cy="5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0" name="Line 14"/>
            <p:cNvSpPr>
              <a:spLocks noChangeShapeType="1"/>
            </p:cNvSpPr>
            <p:nvPr/>
          </p:nvSpPr>
          <p:spPr bwMode="auto">
            <a:xfrm>
              <a:off x="1606" y="3853"/>
              <a:ext cx="0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1" name="Rectangle 15"/>
            <p:cNvSpPr>
              <a:spLocks noChangeArrowheads="1"/>
            </p:cNvSpPr>
            <p:nvPr/>
          </p:nvSpPr>
          <p:spPr bwMode="auto">
            <a:xfrm>
              <a:off x="1399" y="2736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800" b="1">
                  <a:latin typeface="Times New Roman" pitchFamily="18" charset="0"/>
                </a:rPr>
                <a:t>z</a:t>
              </a:r>
              <a:endParaRPr kumimoji="1" lang="en-US" altLang="zh-CN" sz="2800">
                <a:latin typeface="Times New Roman" pitchFamily="18" charset="0"/>
              </a:endParaRPr>
            </a:p>
          </p:txBody>
        </p:sp>
        <p:graphicFrame>
          <p:nvGraphicFramePr>
            <p:cNvPr id="12303" name="Object 16"/>
            <p:cNvGraphicFramePr>
              <a:graphicFrameLocks noChangeAspect="1"/>
            </p:cNvGraphicFramePr>
            <p:nvPr/>
          </p:nvGraphicFramePr>
          <p:xfrm>
            <a:off x="2016" y="3360"/>
            <a:ext cx="200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3" name="Equation" r:id="rId5" imgW="279360" imgH="380880" progId="Equation.3">
                    <p:embed/>
                  </p:oleObj>
                </mc:Choice>
                <mc:Fallback>
                  <p:oleObj name="Equation" r:id="rId5" imgW="279360" imgH="3808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3360"/>
                          <a:ext cx="200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52" name="Line 17"/>
            <p:cNvSpPr>
              <a:spLocks noChangeShapeType="1"/>
            </p:cNvSpPr>
            <p:nvPr/>
          </p:nvSpPr>
          <p:spPr bwMode="auto">
            <a:xfrm flipH="1">
              <a:off x="1316" y="3240"/>
              <a:ext cx="788" cy="8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3" name="AutoShape 18"/>
            <p:cNvSpPr>
              <a:spLocks noChangeArrowheads="1"/>
            </p:cNvSpPr>
            <p:nvPr/>
          </p:nvSpPr>
          <p:spPr bwMode="auto">
            <a:xfrm rot="-4687758">
              <a:off x="1823" y="3003"/>
              <a:ext cx="69" cy="208"/>
            </a:xfrm>
            <a:prstGeom prst="triangle">
              <a:avLst>
                <a:gd name="adj" fmla="val 43750"/>
              </a:avLst>
            </a:prstGeom>
            <a:solidFill>
              <a:srgbClr val="FF3300"/>
            </a:solidFill>
            <a:ln w="38100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4" name="Arc 19"/>
            <p:cNvSpPr>
              <a:spLocks/>
            </p:cNvSpPr>
            <p:nvPr/>
          </p:nvSpPr>
          <p:spPr bwMode="auto">
            <a:xfrm>
              <a:off x="1584" y="3104"/>
              <a:ext cx="497" cy="68"/>
            </a:xfrm>
            <a:custGeom>
              <a:avLst/>
              <a:gdLst>
                <a:gd name="T0" fmla="*/ 0 w 21574"/>
                <a:gd name="T1" fmla="*/ 0 h 18940"/>
                <a:gd name="T2" fmla="*/ 0 w 21574"/>
                <a:gd name="T3" fmla="*/ 0 h 18940"/>
                <a:gd name="T4" fmla="*/ 0 w 21574"/>
                <a:gd name="T5" fmla="*/ 0 h 18940"/>
                <a:gd name="T6" fmla="*/ 0 60000 65536"/>
                <a:gd name="T7" fmla="*/ 0 60000 65536"/>
                <a:gd name="T8" fmla="*/ 0 60000 65536"/>
                <a:gd name="T9" fmla="*/ 0 w 21574"/>
                <a:gd name="T10" fmla="*/ 0 h 18940"/>
                <a:gd name="T11" fmla="*/ 21574 w 21574"/>
                <a:gd name="T12" fmla="*/ 18940 h 189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74" h="18940" fill="none" extrusionOk="0">
                  <a:moveTo>
                    <a:pt x="10384" y="-1"/>
                  </a:moveTo>
                  <a:cubicBezTo>
                    <a:pt x="16968" y="3609"/>
                    <a:pt x="21205" y="10380"/>
                    <a:pt x="21574" y="17880"/>
                  </a:cubicBezTo>
                </a:path>
                <a:path w="21574" h="18940" stroke="0" extrusionOk="0">
                  <a:moveTo>
                    <a:pt x="10384" y="-1"/>
                  </a:moveTo>
                  <a:cubicBezTo>
                    <a:pt x="16968" y="3609"/>
                    <a:pt x="21205" y="10380"/>
                    <a:pt x="21574" y="17880"/>
                  </a:cubicBezTo>
                  <a:lnTo>
                    <a:pt x="0" y="1894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5" name="Rectangle 20"/>
            <p:cNvSpPr>
              <a:spLocks noChangeArrowheads="1"/>
            </p:cNvSpPr>
            <p:nvPr/>
          </p:nvSpPr>
          <p:spPr bwMode="auto">
            <a:xfrm>
              <a:off x="1578" y="2784"/>
              <a:ext cx="4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 sz="3000" b="1" i="1">
                  <a:latin typeface="Symbol" pitchFamily="18" charset="2"/>
                </a:rPr>
                <a:t>W</a:t>
              </a:r>
              <a:endParaRPr kumimoji="1" lang="en-US" altLang="zh-CN" sz="2800" i="1">
                <a:latin typeface="Times New Roman" pitchFamily="18" charset="0"/>
              </a:endParaRPr>
            </a:p>
          </p:txBody>
        </p:sp>
        <p:sp>
          <p:nvSpPr>
            <p:cNvPr id="12356" name="Line 21"/>
            <p:cNvSpPr>
              <a:spLocks noChangeShapeType="1"/>
            </p:cNvSpPr>
            <p:nvPr/>
          </p:nvSpPr>
          <p:spPr bwMode="auto">
            <a:xfrm>
              <a:off x="1316" y="3311"/>
              <a:ext cx="0" cy="8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58" name="Text Box 22"/>
          <p:cNvSpPr txBox="1">
            <a:spLocks noChangeArrowheads="1"/>
          </p:cNvSpPr>
          <p:nvPr/>
        </p:nvSpPr>
        <p:spPr bwMode="auto">
          <a:xfrm>
            <a:off x="4708525" y="1219200"/>
            <a:ext cx="18145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itchFamily="18" charset="0"/>
              </a:rPr>
              <a:t>陀螺</a:t>
            </a:r>
          </a:p>
          <a:p>
            <a:pPr eaLnBrk="1" hangingPunct="1"/>
            <a:r>
              <a:rPr kumimoji="1" lang="zh-CN" altLang="en-US" sz="2800" b="1">
                <a:latin typeface="Times New Roman" pitchFamily="18" charset="0"/>
              </a:rPr>
              <a:t>进动</a:t>
            </a: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1763713" y="1651000"/>
            <a:ext cx="1819275" cy="533400"/>
            <a:chOff x="2790" y="2928"/>
            <a:chExt cx="1146" cy="336"/>
          </a:xfrm>
        </p:grpSpPr>
        <p:sp>
          <p:nvSpPr>
            <p:cNvPr id="12340" name="Oval 24"/>
            <p:cNvSpPr>
              <a:spLocks noChangeArrowheads="1"/>
            </p:cNvSpPr>
            <p:nvPr/>
          </p:nvSpPr>
          <p:spPr bwMode="auto">
            <a:xfrm>
              <a:off x="2790" y="2928"/>
              <a:ext cx="1146" cy="335"/>
            </a:xfrm>
            <a:prstGeom prst="ellipse">
              <a:avLst/>
            </a:prstGeom>
            <a:solidFill>
              <a:srgbClr val="00FFFF"/>
            </a:solidFill>
            <a:ln w="38100">
              <a:solidFill>
                <a:schemeClr val="tx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1" name="Line 25"/>
            <p:cNvSpPr>
              <a:spLocks noChangeShapeType="1"/>
            </p:cNvSpPr>
            <p:nvPr/>
          </p:nvSpPr>
          <p:spPr bwMode="auto">
            <a:xfrm flipH="1">
              <a:off x="3270" y="3264"/>
              <a:ext cx="282" cy="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1763713" y="1346200"/>
            <a:ext cx="1819275" cy="2374900"/>
            <a:chOff x="2496" y="2160"/>
            <a:chExt cx="1296" cy="1786"/>
          </a:xfrm>
        </p:grpSpPr>
        <p:sp>
          <p:nvSpPr>
            <p:cNvPr id="12338" name="Line 27"/>
            <p:cNvSpPr>
              <a:spLocks noChangeShapeType="1"/>
            </p:cNvSpPr>
            <p:nvPr/>
          </p:nvSpPr>
          <p:spPr bwMode="auto">
            <a:xfrm>
              <a:off x="2496" y="2160"/>
              <a:ext cx="0" cy="16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39" name="Line 28"/>
            <p:cNvSpPr>
              <a:spLocks noChangeShapeType="1"/>
            </p:cNvSpPr>
            <p:nvPr/>
          </p:nvSpPr>
          <p:spPr bwMode="auto">
            <a:xfrm>
              <a:off x="3792" y="2208"/>
              <a:ext cx="0" cy="16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2302" name="Object 29"/>
            <p:cNvGraphicFramePr>
              <a:graphicFrameLocks noChangeAspect="1"/>
            </p:cNvGraphicFramePr>
            <p:nvPr/>
          </p:nvGraphicFramePr>
          <p:xfrm>
            <a:off x="3505" y="3596"/>
            <a:ext cx="287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4" name="Equation" r:id="rId7" imgW="406080" imgH="495000" progId="Equation.DSMT4">
                    <p:embed/>
                  </p:oleObj>
                </mc:Choice>
                <mc:Fallback>
                  <p:oleObj name="Equation" r:id="rId7" imgW="406080" imgH="4950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5" y="3596"/>
                          <a:ext cx="287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73"/>
          <p:cNvGrpSpPr>
            <a:grpSpLocks/>
          </p:cNvGrpSpPr>
          <p:nvPr/>
        </p:nvGrpSpPr>
        <p:grpSpPr bwMode="auto">
          <a:xfrm>
            <a:off x="2224088" y="2047875"/>
            <a:ext cx="1317625" cy="1173163"/>
            <a:chOff x="4930" y="2327"/>
            <a:chExt cx="830" cy="739"/>
          </a:xfrm>
        </p:grpSpPr>
        <p:sp>
          <p:nvSpPr>
            <p:cNvPr id="12334" name="Line 31"/>
            <p:cNvSpPr>
              <a:spLocks noChangeShapeType="1"/>
            </p:cNvSpPr>
            <p:nvPr/>
          </p:nvSpPr>
          <p:spPr bwMode="auto">
            <a:xfrm flipH="1">
              <a:off x="4949" y="2848"/>
              <a:ext cx="240" cy="2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35" name="Oval 32"/>
            <p:cNvSpPr>
              <a:spLocks noChangeArrowheads="1"/>
            </p:cNvSpPr>
            <p:nvPr/>
          </p:nvSpPr>
          <p:spPr bwMode="auto">
            <a:xfrm rot="2498657">
              <a:off x="4930" y="2690"/>
              <a:ext cx="561" cy="197"/>
            </a:xfrm>
            <a:prstGeom prst="ellipse">
              <a:avLst/>
            </a:prstGeom>
            <a:solidFill>
              <a:srgbClr val="FFCCCC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6" name="Line 33"/>
            <p:cNvSpPr>
              <a:spLocks noChangeShapeType="1"/>
            </p:cNvSpPr>
            <p:nvPr/>
          </p:nvSpPr>
          <p:spPr bwMode="auto">
            <a:xfrm flipV="1">
              <a:off x="5232" y="2327"/>
              <a:ext cx="528" cy="48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37" name="Line 34"/>
            <p:cNvSpPr>
              <a:spLocks noChangeShapeType="1"/>
            </p:cNvSpPr>
            <p:nvPr/>
          </p:nvSpPr>
          <p:spPr bwMode="auto">
            <a:xfrm rot="940091">
              <a:off x="5162" y="2907"/>
              <a:ext cx="146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2301" name="Object 35"/>
            <p:cNvGraphicFramePr>
              <a:graphicFrameLocks noChangeAspect="1"/>
            </p:cNvGraphicFramePr>
            <p:nvPr/>
          </p:nvGraphicFramePr>
          <p:xfrm>
            <a:off x="5491" y="2573"/>
            <a:ext cx="159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5" name="Equation" r:id="rId9" imgW="279360" imgH="380880" progId="Equation.3">
                    <p:embed/>
                  </p:oleObj>
                </mc:Choice>
                <mc:Fallback>
                  <p:oleObj name="Equation" r:id="rId9" imgW="279360" imgH="38088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1" y="2573"/>
                          <a:ext cx="159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72" name="Object 36"/>
          <p:cNvGraphicFramePr>
            <a:graphicFrameLocks noChangeAspect="1"/>
          </p:cNvGraphicFramePr>
          <p:nvPr/>
        </p:nvGraphicFramePr>
        <p:xfrm>
          <a:off x="2073275" y="3424238"/>
          <a:ext cx="39528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96" name="Equation" r:id="rId11" imgW="469800" imgH="431640" progId="Equation.DSMT4">
                  <p:embed/>
                </p:oleObj>
              </mc:Choice>
              <mc:Fallback>
                <p:oleObj name="Equation" r:id="rId11" imgW="469800" imgH="43164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3424238"/>
                        <a:ext cx="395288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2668588" y="1246188"/>
            <a:ext cx="685800" cy="709612"/>
            <a:chOff x="3360" y="2721"/>
            <a:chExt cx="432" cy="447"/>
          </a:xfrm>
        </p:grpSpPr>
        <p:sp>
          <p:nvSpPr>
            <p:cNvPr id="12333" name="Line 38"/>
            <p:cNvSpPr>
              <a:spLocks noChangeShapeType="1"/>
            </p:cNvSpPr>
            <p:nvPr/>
          </p:nvSpPr>
          <p:spPr bwMode="auto">
            <a:xfrm flipV="1">
              <a:off x="3360" y="2832"/>
              <a:ext cx="0" cy="336"/>
            </a:xfrm>
            <a:prstGeom prst="line">
              <a:avLst/>
            </a:prstGeom>
            <a:noFill/>
            <a:ln w="57150">
              <a:solidFill>
                <a:srgbClr val="66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2300" name="Object 39"/>
            <p:cNvGraphicFramePr>
              <a:graphicFrameLocks noChangeAspect="1"/>
            </p:cNvGraphicFramePr>
            <p:nvPr/>
          </p:nvGraphicFramePr>
          <p:xfrm>
            <a:off x="3408" y="2721"/>
            <a:ext cx="38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7" name="Equation" r:id="rId13" imgW="660240" imgH="431640" progId="Equation.DSMT4">
                    <p:embed/>
                  </p:oleObj>
                </mc:Choice>
                <mc:Fallback>
                  <p:oleObj name="Equation" r:id="rId13" imgW="660240" imgH="43164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721"/>
                          <a:ext cx="38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1"/>
          <p:cNvGrpSpPr>
            <a:grpSpLocks/>
          </p:cNvGrpSpPr>
          <p:nvPr/>
        </p:nvGrpSpPr>
        <p:grpSpPr bwMode="auto">
          <a:xfrm>
            <a:off x="1123950" y="3992563"/>
            <a:ext cx="1752600" cy="2314575"/>
            <a:chOff x="708" y="2515"/>
            <a:chExt cx="1104" cy="1458"/>
          </a:xfrm>
        </p:grpSpPr>
        <p:sp>
          <p:nvSpPr>
            <p:cNvPr id="12324" name="Line 42"/>
            <p:cNvSpPr>
              <a:spLocks noChangeShapeType="1"/>
            </p:cNvSpPr>
            <p:nvPr/>
          </p:nvSpPr>
          <p:spPr bwMode="auto">
            <a:xfrm flipH="1">
              <a:off x="749" y="3073"/>
              <a:ext cx="450" cy="42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25" name="Line 43"/>
            <p:cNvSpPr>
              <a:spLocks noChangeShapeType="1"/>
            </p:cNvSpPr>
            <p:nvPr/>
          </p:nvSpPr>
          <p:spPr bwMode="auto">
            <a:xfrm>
              <a:off x="708" y="2525"/>
              <a:ext cx="0" cy="131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26" name="Oval 44"/>
            <p:cNvSpPr>
              <a:spLocks noChangeArrowheads="1"/>
            </p:cNvSpPr>
            <p:nvPr/>
          </p:nvSpPr>
          <p:spPr bwMode="auto">
            <a:xfrm>
              <a:off x="708" y="3391"/>
              <a:ext cx="1104" cy="318"/>
            </a:xfrm>
            <a:prstGeom prst="ellipse">
              <a:avLst/>
            </a:prstGeom>
            <a:solidFill>
              <a:srgbClr val="00FFFF"/>
            </a:solidFill>
            <a:ln w="38100">
              <a:solidFill>
                <a:schemeClr val="tx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7" name="Line 45"/>
            <p:cNvSpPr>
              <a:spLocks noChangeShapeType="1"/>
            </p:cNvSpPr>
            <p:nvPr/>
          </p:nvSpPr>
          <p:spPr bwMode="auto">
            <a:xfrm>
              <a:off x="1812" y="2525"/>
              <a:ext cx="0" cy="13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28" name="Line 46"/>
            <p:cNvSpPr>
              <a:spLocks noChangeShapeType="1"/>
            </p:cNvSpPr>
            <p:nvPr/>
          </p:nvSpPr>
          <p:spPr bwMode="auto">
            <a:xfrm flipH="1" flipV="1">
              <a:off x="1076" y="3696"/>
              <a:ext cx="286" cy="13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2296" name="Object 47"/>
            <p:cNvGraphicFramePr>
              <a:graphicFrameLocks noChangeAspect="1"/>
            </p:cNvGraphicFramePr>
            <p:nvPr/>
          </p:nvGraphicFramePr>
          <p:xfrm>
            <a:off x="1534" y="3673"/>
            <a:ext cx="25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8" name="Equation" r:id="rId15" imgW="406080" imgH="495000" progId="Equation.DSMT4">
                    <p:embed/>
                  </p:oleObj>
                </mc:Choice>
                <mc:Fallback>
                  <p:oleObj name="Equation" r:id="rId15" imgW="406080" imgH="49500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4" y="3673"/>
                          <a:ext cx="25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9" name="Oval 48"/>
            <p:cNvSpPr>
              <a:spLocks noChangeArrowheads="1"/>
            </p:cNvSpPr>
            <p:nvPr/>
          </p:nvSpPr>
          <p:spPr bwMode="auto">
            <a:xfrm rot="3095500">
              <a:off x="1020" y="2883"/>
              <a:ext cx="517" cy="245"/>
            </a:xfrm>
            <a:prstGeom prst="ellipse">
              <a:avLst/>
            </a:prstGeom>
            <a:solidFill>
              <a:srgbClr val="FFCCCC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0" name="Line 49"/>
            <p:cNvSpPr>
              <a:spLocks noChangeShapeType="1"/>
            </p:cNvSpPr>
            <p:nvPr/>
          </p:nvSpPr>
          <p:spPr bwMode="auto">
            <a:xfrm rot="9511362">
              <a:off x="1251" y="3129"/>
              <a:ext cx="61" cy="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2297" name="Object 50"/>
            <p:cNvGraphicFramePr>
              <a:graphicFrameLocks noChangeAspect="1"/>
            </p:cNvGraphicFramePr>
            <p:nvPr/>
          </p:nvGraphicFramePr>
          <p:xfrm>
            <a:off x="790" y="3099"/>
            <a:ext cx="15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99" name="Equation" r:id="rId17" imgW="279360" imgH="380880" progId="Equation.3">
                    <p:embed/>
                  </p:oleObj>
                </mc:Choice>
                <mc:Fallback>
                  <p:oleObj name="Equation" r:id="rId17" imgW="279360" imgH="38088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" y="3099"/>
                          <a:ext cx="150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8" name="Object 51"/>
            <p:cNvGraphicFramePr>
              <a:graphicFrameLocks noChangeAspect="1"/>
            </p:cNvGraphicFramePr>
            <p:nvPr/>
          </p:nvGraphicFramePr>
          <p:xfrm>
            <a:off x="1293" y="2515"/>
            <a:ext cx="26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0" name="Equation" r:id="rId19" imgW="469800" imgH="431640" progId="Equation.DSMT4">
                    <p:embed/>
                  </p:oleObj>
                </mc:Choice>
                <mc:Fallback>
                  <p:oleObj name="Equation" r:id="rId19" imgW="469800" imgH="43164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3" y="2515"/>
                          <a:ext cx="26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1" name="Line 52"/>
            <p:cNvSpPr>
              <a:spLocks noChangeShapeType="1"/>
            </p:cNvSpPr>
            <p:nvPr/>
          </p:nvSpPr>
          <p:spPr bwMode="auto">
            <a:xfrm flipV="1">
              <a:off x="1280" y="2622"/>
              <a:ext cx="409" cy="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32" name="Line 53"/>
            <p:cNvSpPr>
              <a:spLocks noChangeShapeType="1"/>
            </p:cNvSpPr>
            <p:nvPr/>
          </p:nvSpPr>
          <p:spPr bwMode="auto">
            <a:xfrm flipV="1">
              <a:off x="1236" y="3227"/>
              <a:ext cx="4" cy="354"/>
            </a:xfrm>
            <a:prstGeom prst="line">
              <a:avLst/>
            </a:prstGeom>
            <a:noFill/>
            <a:ln w="57150">
              <a:solidFill>
                <a:srgbClr val="66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2299" name="Object 54"/>
            <p:cNvGraphicFramePr>
              <a:graphicFrameLocks noChangeAspect="1"/>
            </p:cNvGraphicFramePr>
            <p:nvPr/>
          </p:nvGraphicFramePr>
          <p:xfrm>
            <a:off x="1275" y="3238"/>
            <a:ext cx="35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1" name="Equation" r:id="rId21" imgW="660240" imgH="431640" progId="Equation.DSMT4">
                    <p:embed/>
                  </p:oleObj>
                </mc:Choice>
                <mc:Fallback>
                  <p:oleObj name="Equation" r:id="rId21" imgW="660240" imgH="43164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5" y="3238"/>
                          <a:ext cx="35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91" name="Text Box 55"/>
          <p:cNvSpPr txBox="1">
            <a:spLocks noChangeArrowheads="1"/>
          </p:cNvSpPr>
          <p:nvPr/>
        </p:nvSpPr>
        <p:spPr bwMode="auto">
          <a:xfrm>
            <a:off x="3779838" y="3679825"/>
            <a:ext cx="3630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imes New Roman" pitchFamily="18" charset="0"/>
              </a:rPr>
              <a:t>——</a:t>
            </a:r>
            <a:r>
              <a:rPr kumimoji="1" lang="zh-CN" altLang="en-US" sz="2800" b="1">
                <a:latin typeface="Times New Roman" pitchFamily="18" charset="0"/>
              </a:rPr>
              <a:t>电子的进动</a:t>
            </a:r>
          </a:p>
        </p:txBody>
      </p:sp>
      <p:graphicFrame>
        <p:nvGraphicFramePr>
          <p:cNvPr id="39992" name="Object 56"/>
          <p:cNvGraphicFramePr>
            <a:graphicFrameLocks noChangeAspect="1"/>
          </p:cNvGraphicFramePr>
          <p:nvPr/>
        </p:nvGraphicFramePr>
        <p:xfrm>
          <a:off x="6651625" y="3754438"/>
          <a:ext cx="6175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2" name="Equation" r:id="rId23" imgW="698400" imgH="431640" progId="Equation.DSMT4">
                  <p:embed/>
                </p:oleObj>
              </mc:Choice>
              <mc:Fallback>
                <p:oleObj name="Equation" r:id="rId23" imgW="698400" imgH="43164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3754438"/>
                        <a:ext cx="6175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93" name="Object 57"/>
          <p:cNvGraphicFramePr>
            <a:graphicFrameLocks noChangeAspect="1"/>
          </p:cNvGraphicFramePr>
          <p:nvPr/>
        </p:nvGraphicFramePr>
        <p:xfrm>
          <a:off x="7229475" y="3738563"/>
          <a:ext cx="6905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" name="Equation" r:id="rId25" imgW="761760" imgH="495000" progId="Equation.DSMT4">
                  <p:embed/>
                </p:oleObj>
              </mc:Choice>
              <mc:Fallback>
                <p:oleObj name="Equation" r:id="rId25" imgW="761760" imgH="495000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5" y="3738563"/>
                        <a:ext cx="69056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96" name="Line 60"/>
          <p:cNvSpPr>
            <a:spLocks noChangeShapeType="1"/>
          </p:cNvSpPr>
          <p:nvPr/>
        </p:nvSpPr>
        <p:spPr bwMode="auto">
          <a:xfrm>
            <a:off x="6402388" y="3967163"/>
            <a:ext cx="2873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6127750" y="390525"/>
            <a:ext cx="2173288" cy="693738"/>
            <a:chOff x="2828" y="90"/>
            <a:chExt cx="1369" cy="437"/>
          </a:xfrm>
        </p:grpSpPr>
        <p:graphicFrame>
          <p:nvGraphicFramePr>
            <p:cNvPr id="12294" name="Object 62"/>
            <p:cNvGraphicFramePr>
              <a:graphicFrameLocks noChangeAspect="1"/>
            </p:cNvGraphicFramePr>
            <p:nvPr/>
          </p:nvGraphicFramePr>
          <p:xfrm>
            <a:off x="3198" y="164"/>
            <a:ext cx="999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4" name="公式" r:id="rId27" imgW="1777680" imgH="469800" progId="Equation.3">
                    <p:embed/>
                  </p:oleObj>
                </mc:Choice>
                <mc:Fallback>
                  <p:oleObj name="公式" r:id="rId27" imgW="1777680" imgH="469800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164"/>
                          <a:ext cx="999" cy="296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5" name="Object 63"/>
            <p:cNvGraphicFramePr>
              <a:graphicFrameLocks noChangeAspect="1"/>
            </p:cNvGraphicFramePr>
            <p:nvPr/>
          </p:nvGraphicFramePr>
          <p:xfrm>
            <a:off x="2828" y="90"/>
            <a:ext cx="370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5" name="剪辑" r:id="rId29" imgW="3285720" imgH="3038040" progId="MS_ClipArt_Gallery.2">
                    <p:embed/>
                  </p:oleObj>
                </mc:Choice>
                <mc:Fallback>
                  <p:oleObj name="剪辑" r:id="rId29" imgW="3285720" imgH="3038040" progId="MS_ClipArt_Gallery.2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8" y="90"/>
                          <a:ext cx="370" cy="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000" name="Object 64"/>
          <p:cNvGraphicFramePr>
            <a:graphicFrameLocks noGrp="1" noChangeAspect="1"/>
          </p:cNvGraphicFramePr>
          <p:nvPr>
            <p:ph/>
          </p:nvPr>
        </p:nvGraphicFramePr>
        <p:xfrm>
          <a:off x="4075113" y="4714875"/>
          <a:ext cx="26924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6" name="Equation" r:id="rId31" imgW="2438280" imgH="685800" progId="Equation.DSMT4">
                  <p:embed/>
                </p:oleObj>
              </mc:Choice>
              <mc:Fallback>
                <p:oleObj name="Equation" r:id="rId31" imgW="2438280" imgH="68580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5113" y="4714875"/>
                        <a:ext cx="26924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01" name="Text Box 65"/>
          <p:cNvSpPr txBox="1">
            <a:spLocks noChangeArrowheads="1"/>
          </p:cNvSpPr>
          <p:nvPr/>
        </p:nvSpPr>
        <p:spPr bwMode="auto">
          <a:xfrm>
            <a:off x="5437188" y="5465763"/>
            <a:ext cx="3311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附加磁矩</a:t>
            </a:r>
          </a:p>
        </p:txBody>
      </p:sp>
      <p:grpSp>
        <p:nvGrpSpPr>
          <p:cNvPr id="10" name="Group 66"/>
          <p:cNvGrpSpPr>
            <a:grpSpLocks/>
          </p:cNvGrpSpPr>
          <p:nvPr/>
        </p:nvGrpSpPr>
        <p:grpSpPr bwMode="auto">
          <a:xfrm>
            <a:off x="2330450" y="2649538"/>
            <a:ext cx="361950" cy="304800"/>
            <a:chOff x="2498" y="2015"/>
            <a:chExt cx="228" cy="192"/>
          </a:xfrm>
        </p:grpSpPr>
        <p:sp>
          <p:nvSpPr>
            <p:cNvPr id="12322" name="Oval 67"/>
            <p:cNvSpPr>
              <a:spLocks noChangeArrowheads="1"/>
            </p:cNvSpPr>
            <p:nvPr/>
          </p:nvSpPr>
          <p:spPr bwMode="auto">
            <a:xfrm>
              <a:off x="2563" y="2066"/>
              <a:ext cx="94" cy="9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3" name="Text Box 68"/>
            <p:cNvSpPr txBox="1">
              <a:spLocks noChangeArrowheads="1"/>
            </p:cNvSpPr>
            <p:nvPr/>
          </p:nvSpPr>
          <p:spPr bwMode="auto">
            <a:xfrm>
              <a:off x="2498" y="2015"/>
              <a:ext cx="2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solidFill>
                    <a:schemeClr val="bg1"/>
                  </a:solidFill>
                  <a:latin typeface="Times New Roman" pitchFamily="18" charset="0"/>
                </a:rPr>
                <a:t>－</a:t>
              </a:r>
            </a:p>
          </p:txBody>
        </p:sp>
      </p:grpSp>
      <p:grpSp>
        <p:nvGrpSpPr>
          <p:cNvPr id="11" name="Group 69"/>
          <p:cNvGrpSpPr>
            <a:grpSpLocks/>
          </p:cNvGrpSpPr>
          <p:nvPr/>
        </p:nvGrpSpPr>
        <p:grpSpPr bwMode="auto">
          <a:xfrm>
            <a:off x="2074863" y="4921250"/>
            <a:ext cx="361950" cy="304800"/>
            <a:chOff x="2498" y="2015"/>
            <a:chExt cx="228" cy="192"/>
          </a:xfrm>
        </p:grpSpPr>
        <p:sp>
          <p:nvSpPr>
            <p:cNvPr id="12320" name="Oval 70"/>
            <p:cNvSpPr>
              <a:spLocks noChangeArrowheads="1"/>
            </p:cNvSpPr>
            <p:nvPr/>
          </p:nvSpPr>
          <p:spPr bwMode="auto">
            <a:xfrm>
              <a:off x="2563" y="2066"/>
              <a:ext cx="94" cy="9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1" name="Text Box 71"/>
            <p:cNvSpPr txBox="1">
              <a:spLocks noChangeArrowheads="1"/>
            </p:cNvSpPr>
            <p:nvPr/>
          </p:nvSpPr>
          <p:spPr bwMode="auto">
            <a:xfrm>
              <a:off x="2498" y="2015"/>
              <a:ext cx="2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>
                  <a:solidFill>
                    <a:schemeClr val="bg1"/>
                  </a:solidFill>
                  <a:latin typeface="Times New Roman" pitchFamily="18" charset="0"/>
                </a:rPr>
                <a:t>－</a:t>
              </a:r>
            </a:p>
          </p:txBody>
        </p:sp>
      </p:grpSp>
      <p:sp>
        <p:nvSpPr>
          <p:cNvPr id="40008" name="Line 72"/>
          <p:cNvSpPr>
            <a:spLocks noChangeShapeType="1"/>
          </p:cNvSpPr>
          <p:nvPr/>
        </p:nvSpPr>
        <p:spPr bwMode="auto">
          <a:xfrm flipH="1">
            <a:off x="1947863" y="2941638"/>
            <a:ext cx="615950" cy="561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319" name="Text Box 75"/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9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9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9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9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0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0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0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0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58" grpId="0" autoUpdateAnimBg="0"/>
      <p:bldP spid="39991" grpId="0" autoUpdateAnimBg="0"/>
      <p:bldP spid="39996" grpId="0" animBg="1"/>
      <p:bldP spid="40001" grpId="0" autoUpdateAnimBg="0"/>
      <p:bldP spid="4000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0" name="AutoShape 180"/>
          <p:cNvSpPr>
            <a:spLocks noChangeArrowheads="1"/>
          </p:cNvSpPr>
          <p:nvPr/>
        </p:nvSpPr>
        <p:spPr bwMode="auto">
          <a:xfrm rot="5400000">
            <a:off x="6032500" y="1497013"/>
            <a:ext cx="685800" cy="1828800"/>
          </a:xfrm>
          <a:prstGeom prst="can">
            <a:avLst>
              <a:gd name="adj" fmla="val 34815"/>
            </a:avLst>
          </a:prstGeom>
          <a:gradFill rotWithShape="1">
            <a:gsLst>
              <a:gs pos="0">
                <a:srgbClr val="184718"/>
              </a:gs>
              <a:gs pos="50000">
                <a:srgbClr val="339933"/>
              </a:gs>
              <a:gs pos="100000">
                <a:srgbClr val="184718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11" name="AutoShape 151"/>
          <p:cNvSpPr>
            <a:spLocks noChangeArrowheads="1"/>
          </p:cNvSpPr>
          <p:nvPr/>
        </p:nvSpPr>
        <p:spPr bwMode="auto">
          <a:xfrm rot="5400000">
            <a:off x="1485900" y="1409700"/>
            <a:ext cx="685800" cy="1828800"/>
          </a:xfrm>
          <a:prstGeom prst="can">
            <a:avLst>
              <a:gd name="adj" fmla="val 34815"/>
            </a:avLst>
          </a:prstGeom>
          <a:gradFill rotWithShape="1">
            <a:gsLst>
              <a:gs pos="0">
                <a:srgbClr val="184718"/>
              </a:gs>
              <a:gs pos="50000">
                <a:srgbClr val="339933"/>
              </a:gs>
              <a:gs pos="100000">
                <a:srgbClr val="184718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447675" y="388938"/>
            <a:ext cx="7004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（</a:t>
            </a:r>
            <a:r>
              <a:rPr kumimoji="1" lang="en-US" altLang="zh-CN" sz="2800" b="1">
                <a:latin typeface="Times New Roman" pitchFamily="18" charset="0"/>
              </a:rPr>
              <a:t>3</a:t>
            </a:r>
            <a:r>
              <a:rPr kumimoji="1" lang="zh-CN" altLang="en-US" sz="2800" b="1">
                <a:latin typeface="Times New Roman" pitchFamily="18" charset="0"/>
              </a:rPr>
              <a:t>）顺磁、抗磁特性的微观解释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817563" y="960438"/>
            <a:ext cx="307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</a:rPr>
              <a:t>1</a:t>
            </a:r>
            <a:r>
              <a:rPr kumimoji="1" lang="en-US" altLang="zh-CN" sz="2800" b="1">
                <a:latin typeface="Times New Roman" pitchFamily="18" charset="0"/>
                <a:cs typeface="Times New Roman" pitchFamily="18" charset="0"/>
              </a:rPr>
              <a:t>º</a:t>
            </a:r>
            <a:r>
              <a:rPr kumimoji="1" lang="en-US" altLang="zh-CN" sz="2800" b="1">
                <a:latin typeface="Times New Roman" pitchFamily="18" charset="0"/>
              </a:rPr>
              <a:t> </a:t>
            </a:r>
            <a:r>
              <a:rPr kumimoji="1" lang="zh-CN" altLang="en-US" sz="2800" b="1">
                <a:latin typeface="宋体" pitchFamily="2" charset="-122"/>
              </a:rPr>
              <a:t>顺磁性</a:t>
            </a:r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1270000" y="1485900"/>
          <a:ext cx="965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9" name="Equation" r:id="rId3" imgW="965160" imgH="495000" progId="Equation.DSMT4">
                  <p:embed/>
                </p:oleObj>
              </mc:Choice>
              <mc:Fallback>
                <p:oleObj name="Equation" r:id="rId3" imgW="965160" imgH="495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1485900"/>
                        <a:ext cx="965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909638" y="2708275"/>
          <a:ext cx="1778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0" name="Equation" r:id="rId5" imgW="1777680" imgH="482400" progId="Equation.DSMT4">
                  <p:embed/>
                </p:oleObj>
              </mc:Choice>
              <mc:Fallback>
                <p:oleObj name="Equation" r:id="rId5" imgW="1777680" imgH="482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2708275"/>
                        <a:ext cx="1778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3200400" y="2079625"/>
            <a:ext cx="1600200" cy="609600"/>
          </a:xfrm>
          <a:prstGeom prst="rect">
            <a:avLst/>
          </a:prstGeom>
          <a:solidFill>
            <a:srgbClr val="004B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971800" y="1477963"/>
            <a:ext cx="2057400" cy="525462"/>
            <a:chOff x="3072" y="212"/>
            <a:chExt cx="1296" cy="331"/>
          </a:xfrm>
        </p:grpSpPr>
        <p:sp>
          <p:nvSpPr>
            <p:cNvPr id="13480" name="Line 10"/>
            <p:cNvSpPr>
              <a:spLocks noChangeShapeType="1"/>
            </p:cNvSpPr>
            <p:nvPr/>
          </p:nvSpPr>
          <p:spPr bwMode="auto">
            <a:xfrm>
              <a:off x="3072" y="543"/>
              <a:ext cx="1296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1" name="Object 11"/>
            <p:cNvGraphicFramePr>
              <a:graphicFrameLocks noChangeAspect="1"/>
            </p:cNvGraphicFramePr>
            <p:nvPr/>
          </p:nvGraphicFramePr>
          <p:xfrm>
            <a:off x="3564" y="212"/>
            <a:ext cx="25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41" name="Equation" r:id="rId7" imgW="406080" imgH="495000" progId="Equation.DSMT4">
                    <p:embed/>
                  </p:oleObj>
                </mc:Choice>
                <mc:Fallback>
                  <p:oleObj name="Equation" r:id="rId7" imgW="406080" imgH="4950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4" y="212"/>
                          <a:ext cx="25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72" name="Object 12"/>
          <p:cNvGraphicFramePr>
            <a:graphicFrameLocks noChangeAspect="1"/>
          </p:cNvGraphicFramePr>
          <p:nvPr/>
        </p:nvGraphicFramePr>
        <p:xfrm>
          <a:off x="3089275" y="2724150"/>
          <a:ext cx="18700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2" name="Equation" r:id="rId9" imgW="2019240" imgH="533160" progId="Equation.DSMT4">
                  <p:embed/>
                </p:oleObj>
              </mc:Choice>
              <mc:Fallback>
                <p:oleObj name="Equation" r:id="rId9" imgW="2019240" imgH="5331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275" y="2724150"/>
                        <a:ext cx="187007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066800" y="2003425"/>
            <a:ext cx="1417638" cy="628650"/>
            <a:chOff x="628" y="1008"/>
            <a:chExt cx="768" cy="384"/>
          </a:xfrm>
        </p:grpSpPr>
        <p:grpSp>
          <p:nvGrpSpPr>
            <p:cNvPr id="13453" name="Group 14"/>
            <p:cNvGrpSpPr>
              <a:grpSpLocks/>
            </p:cNvGrpSpPr>
            <p:nvPr/>
          </p:nvGrpSpPr>
          <p:grpSpPr bwMode="auto">
            <a:xfrm>
              <a:off x="628" y="1008"/>
              <a:ext cx="144" cy="148"/>
              <a:chOff x="717" y="1826"/>
              <a:chExt cx="194" cy="196"/>
            </a:xfrm>
          </p:grpSpPr>
          <p:sp>
            <p:nvSpPr>
              <p:cNvPr id="13478" name="Oval 15"/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9" name="Line 16"/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54" name="Group 17"/>
            <p:cNvGrpSpPr>
              <a:grpSpLocks/>
            </p:cNvGrpSpPr>
            <p:nvPr/>
          </p:nvGrpSpPr>
          <p:grpSpPr bwMode="auto">
            <a:xfrm rot="5403686">
              <a:off x="653" y="1174"/>
              <a:ext cx="97" cy="148"/>
              <a:chOff x="717" y="1826"/>
              <a:chExt cx="194" cy="196"/>
            </a:xfrm>
          </p:grpSpPr>
          <p:sp>
            <p:nvSpPr>
              <p:cNvPr id="13476" name="Oval 18"/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7" name="Line 19"/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55" name="Group 20"/>
            <p:cNvGrpSpPr>
              <a:grpSpLocks/>
            </p:cNvGrpSpPr>
            <p:nvPr/>
          </p:nvGrpSpPr>
          <p:grpSpPr bwMode="auto">
            <a:xfrm rot="5403686">
              <a:off x="841" y="1031"/>
              <a:ext cx="97" cy="148"/>
              <a:chOff x="717" y="1826"/>
              <a:chExt cx="194" cy="196"/>
            </a:xfrm>
          </p:grpSpPr>
          <p:sp>
            <p:nvSpPr>
              <p:cNvPr id="13474" name="Oval 21"/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5" name="Line 22"/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56" name="Group 23"/>
            <p:cNvGrpSpPr>
              <a:grpSpLocks/>
            </p:cNvGrpSpPr>
            <p:nvPr/>
          </p:nvGrpSpPr>
          <p:grpSpPr bwMode="auto">
            <a:xfrm rot="-6954240">
              <a:off x="749" y="1270"/>
              <a:ext cx="97" cy="148"/>
              <a:chOff x="717" y="1826"/>
              <a:chExt cx="194" cy="196"/>
            </a:xfrm>
          </p:grpSpPr>
          <p:sp>
            <p:nvSpPr>
              <p:cNvPr id="13472" name="Oval 24"/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3" name="Line 25"/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57" name="Group 26"/>
            <p:cNvGrpSpPr>
              <a:grpSpLocks/>
            </p:cNvGrpSpPr>
            <p:nvPr/>
          </p:nvGrpSpPr>
          <p:grpSpPr bwMode="auto">
            <a:xfrm rot="5299120">
              <a:off x="937" y="1174"/>
              <a:ext cx="97" cy="148"/>
              <a:chOff x="717" y="1826"/>
              <a:chExt cx="194" cy="196"/>
            </a:xfrm>
          </p:grpSpPr>
          <p:sp>
            <p:nvSpPr>
              <p:cNvPr id="13470" name="Oval 27"/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1" name="Line 28"/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58" name="Group 29"/>
            <p:cNvGrpSpPr>
              <a:grpSpLocks/>
            </p:cNvGrpSpPr>
            <p:nvPr/>
          </p:nvGrpSpPr>
          <p:grpSpPr bwMode="auto">
            <a:xfrm rot="-6954240">
              <a:off x="985" y="1079"/>
              <a:ext cx="97" cy="148"/>
              <a:chOff x="717" y="1826"/>
              <a:chExt cx="194" cy="196"/>
            </a:xfrm>
          </p:grpSpPr>
          <p:sp>
            <p:nvSpPr>
              <p:cNvPr id="13468" name="Oval 30"/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69" name="Line 31"/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59" name="Group 32"/>
            <p:cNvGrpSpPr>
              <a:grpSpLocks/>
            </p:cNvGrpSpPr>
            <p:nvPr/>
          </p:nvGrpSpPr>
          <p:grpSpPr bwMode="auto">
            <a:xfrm rot="-6954240">
              <a:off x="1273" y="1223"/>
              <a:ext cx="97" cy="148"/>
              <a:chOff x="717" y="1826"/>
              <a:chExt cx="194" cy="196"/>
            </a:xfrm>
          </p:grpSpPr>
          <p:sp>
            <p:nvSpPr>
              <p:cNvPr id="13466" name="Oval 33"/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67" name="Line 34"/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60" name="Group 35"/>
            <p:cNvGrpSpPr>
              <a:grpSpLocks/>
            </p:cNvGrpSpPr>
            <p:nvPr/>
          </p:nvGrpSpPr>
          <p:grpSpPr bwMode="auto">
            <a:xfrm>
              <a:off x="1060" y="1196"/>
              <a:ext cx="144" cy="148"/>
              <a:chOff x="717" y="1826"/>
              <a:chExt cx="194" cy="196"/>
            </a:xfrm>
          </p:grpSpPr>
          <p:sp>
            <p:nvSpPr>
              <p:cNvPr id="13464" name="Oval 36"/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65" name="Line 37"/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61" name="Group 38"/>
            <p:cNvGrpSpPr>
              <a:grpSpLocks/>
            </p:cNvGrpSpPr>
            <p:nvPr/>
          </p:nvGrpSpPr>
          <p:grpSpPr bwMode="auto">
            <a:xfrm rot="5403686">
              <a:off x="1177" y="1031"/>
              <a:ext cx="97" cy="148"/>
              <a:chOff x="717" y="1826"/>
              <a:chExt cx="194" cy="196"/>
            </a:xfrm>
          </p:grpSpPr>
          <p:sp>
            <p:nvSpPr>
              <p:cNvPr id="13462" name="Oval 39"/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63" name="Line 40"/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Group 209"/>
          <p:cNvGrpSpPr>
            <a:grpSpLocks/>
          </p:cNvGrpSpPr>
          <p:nvPr/>
        </p:nvGrpSpPr>
        <p:grpSpPr bwMode="auto">
          <a:xfrm>
            <a:off x="3498850" y="2182813"/>
            <a:ext cx="457200" cy="323850"/>
            <a:chOff x="2204" y="1375"/>
            <a:chExt cx="288" cy="204"/>
          </a:xfrm>
        </p:grpSpPr>
        <p:sp>
          <p:nvSpPr>
            <p:cNvPr id="13451" name="Oval 42"/>
            <p:cNvSpPr>
              <a:spLocks noChangeArrowheads="1"/>
            </p:cNvSpPr>
            <p:nvPr/>
          </p:nvSpPr>
          <p:spPr bwMode="auto">
            <a:xfrm rot="543029">
              <a:off x="2204" y="1487"/>
              <a:ext cx="288" cy="9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52" name="Line 43"/>
            <p:cNvSpPr>
              <a:spLocks noChangeShapeType="1"/>
            </p:cNvSpPr>
            <p:nvPr/>
          </p:nvSpPr>
          <p:spPr bwMode="auto">
            <a:xfrm rot="543029" flipV="1">
              <a:off x="2362" y="1375"/>
              <a:ext cx="9" cy="17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5768975" y="2144713"/>
            <a:ext cx="1235075" cy="482600"/>
            <a:chOff x="3518" y="1040"/>
            <a:chExt cx="778" cy="304"/>
          </a:xfrm>
        </p:grpSpPr>
        <p:grpSp>
          <p:nvGrpSpPr>
            <p:cNvPr id="13433" name="Group 45"/>
            <p:cNvGrpSpPr>
              <a:grpSpLocks/>
            </p:cNvGrpSpPr>
            <p:nvPr/>
          </p:nvGrpSpPr>
          <p:grpSpPr bwMode="auto">
            <a:xfrm rot="2970333">
              <a:off x="3560" y="1008"/>
              <a:ext cx="126" cy="190"/>
              <a:chOff x="3452" y="672"/>
              <a:chExt cx="240" cy="212"/>
            </a:xfrm>
          </p:grpSpPr>
          <p:sp>
            <p:nvSpPr>
              <p:cNvPr id="13449" name="Oval 46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50" name="Line 47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34" name="Group 48"/>
            <p:cNvGrpSpPr>
              <a:grpSpLocks/>
            </p:cNvGrpSpPr>
            <p:nvPr/>
          </p:nvGrpSpPr>
          <p:grpSpPr bwMode="auto">
            <a:xfrm rot="5868898">
              <a:off x="3542" y="1176"/>
              <a:ext cx="144" cy="192"/>
              <a:chOff x="3452" y="672"/>
              <a:chExt cx="240" cy="212"/>
            </a:xfrm>
          </p:grpSpPr>
          <p:sp>
            <p:nvSpPr>
              <p:cNvPr id="13447" name="Oval 49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48" name="Line 50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35" name="Group 51"/>
            <p:cNvGrpSpPr>
              <a:grpSpLocks/>
            </p:cNvGrpSpPr>
            <p:nvPr/>
          </p:nvGrpSpPr>
          <p:grpSpPr bwMode="auto">
            <a:xfrm rot="2565710">
              <a:off x="3786" y="1154"/>
              <a:ext cx="126" cy="190"/>
              <a:chOff x="3452" y="672"/>
              <a:chExt cx="240" cy="212"/>
            </a:xfrm>
          </p:grpSpPr>
          <p:sp>
            <p:nvSpPr>
              <p:cNvPr id="13445" name="Oval 52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46" name="Line 53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36" name="Group 54"/>
            <p:cNvGrpSpPr>
              <a:grpSpLocks/>
            </p:cNvGrpSpPr>
            <p:nvPr/>
          </p:nvGrpSpPr>
          <p:grpSpPr bwMode="auto">
            <a:xfrm rot="4893287">
              <a:off x="3792" y="1032"/>
              <a:ext cx="144" cy="192"/>
              <a:chOff x="3452" y="672"/>
              <a:chExt cx="240" cy="212"/>
            </a:xfrm>
          </p:grpSpPr>
          <p:sp>
            <p:nvSpPr>
              <p:cNvPr id="13443" name="Oval 55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44" name="Line 56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37" name="Group 57"/>
            <p:cNvGrpSpPr>
              <a:grpSpLocks/>
            </p:cNvGrpSpPr>
            <p:nvPr/>
          </p:nvGrpSpPr>
          <p:grpSpPr bwMode="auto">
            <a:xfrm rot="2970333">
              <a:off x="4042" y="1024"/>
              <a:ext cx="126" cy="190"/>
              <a:chOff x="3452" y="672"/>
              <a:chExt cx="240" cy="212"/>
            </a:xfrm>
          </p:grpSpPr>
          <p:sp>
            <p:nvSpPr>
              <p:cNvPr id="13441" name="Oval 58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42" name="Line 59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38" name="Group 60"/>
            <p:cNvGrpSpPr>
              <a:grpSpLocks/>
            </p:cNvGrpSpPr>
            <p:nvPr/>
          </p:nvGrpSpPr>
          <p:grpSpPr bwMode="auto">
            <a:xfrm rot="5868898">
              <a:off x="4128" y="1176"/>
              <a:ext cx="144" cy="192"/>
              <a:chOff x="3452" y="672"/>
              <a:chExt cx="240" cy="212"/>
            </a:xfrm>
          </p:grpSpPr>
          <p:sp>
            <p:nvSpPr>
              <p:cNvPr id="13439" name="Oval 61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40" name="Line 62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1023" name="Object 63"/>
          <p:cNvGraphicFramePr>
            <a:graphicFrameLocks noChangeAspect="1"/>
          </p:cNvGraphicFramePr>
          <p:nvPr/>
        </p:nvGraphicFramePr>
        <p:xfrm>
          <a:off x="4429125" y="3533775"/>
          <a:ext cx="3952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3" name="Equation" r:id="rId11" imgW="406080" imgH="355320" progId="Equation.3">
                  <p:embed/>
                </p:oleObj>
              </mc:Choice>
              <mc:Fallback>
                <p:oleObj name="Equation" r:id="rId11" imgW="406080" imgH="35532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3533775"/>
                        <a:ext cx="3952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4" name="Oval 64"/>
          <p:cNvSpPr>
            <a:spLocks noChangeArrowheads="1"/>
          </p:cNvSpPr>
          <p:nvPr/>
        </p:nvSpPr>
        <p:spPr bwMode="auto">
          <a:xfrm>
            <a:off x="5867400" y="3176588"/>
            <a:ext cx="1181100" cy="1181100"/>
          </a:xfrm>
          <a:prstGeom prst="ellipse">
            <a:avLst/>
          </a:prstGeom>
          <a:noFill/>
          <a:ln w="412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25" name="Oval 65"/>
          <p:cNvSpPr>
            <a:spLocks noChangeArrowheads="1"/>
          </p:cNvSpPr>
          <p:nvPr/>
        </p:nvSpPr>
        <p:spPr bwMode="auto">
          <a:xfrm>
            <a:off x="7315200" y="3176588"/>
            <a:ext cx="1181100" cy="1181100"/>
          </a:xfrm>
          <a:prstGeom prst="ellipse">
            <a:avLst/>
          </a:prstGeom>
          <a:noFill/>
          <a:ln w="412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" name="Group 66"/>
          <p:cNvGrpSpPr>
            <a:grpSpLocks/>
          </p:cNvGrpSpPr>
          <p:nvPr/>
        </p:nvGrpSpPr>
        <p:grpSpPr bwMode="auto">
          <a:xfrm>
            <a:off x="5943600" y="3481388"/>
            <a:ext cx="304800" cy="304800"/>
            <a:chOff x="1584" y="2400"/>
            <a:chExt cx="192" cy="192"/>
          </a:xfrm>
        </p:grpSpPr>
        <p:sp>
          <p:nvSpPr>
            <p:cNvPr id="13431" name="Oval 67"/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32" name="Line 68"/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69"/>
          <p:cNvGrpSpPr>
            <a:grpSpLocks/>
          </p:cNvGrpSpPr>
          <p:nvPr/>
        </p:nvGrpSpPr>
        <p:grpSpPr bwMode="auto">
          <a:xfrm>
            <a:off x="5943600" y="3786188"/>
            <a:ext cx="304800" cy="304800"/>
            <a:chOff x="1584" y="2400"/>
            <a:chExt cx="192" cy="192"/>
          </a:xfrm>
        </p:grpSpPr>
        <p:sp>
          <p:nvSpPr>
            <p:cNvPr id="13429" name="Oval 70"/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30" name="Line 71"/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72"/>
          <p:cNvGrpSpPr>
            <a:grpSpLocks/>
          </p:cNvGrpSpPr>
          <p:nvPr/>
        </p:nvGrpSpPr>
        <p:grpSpPr bwMode="auto">
          <a:xfrm>
            <a:off x="6172200" y="4014788"/>
            <a:ext cx="304800" cy="304800"/>
            <a:chOff x="1584" y="2400"/>
            <a:chExt cx="192" cy="192"/>
          </a:xfrm>
        </p:grpSpPr>
        <p:sp>
          <p:nvSpPr>
            <p:cNvPr id="13427" name="Oval 73"/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8" name="Line 74"/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75"/>
          <p:cNvGrpSpPr>
            <a:grpSpLocks/>
          </p:cNvGrpSpPr>
          <p:nvPr/>
        </p:nvGrpSpPr>
        <p:grpSpPr bwMode="auto">
          <a:xfrm>
            <a:off x="6477000" y="4014788"/>
            <a:ext cx="304800" cy="304800"/>
            <a:chOff x="1584" y="2400"/>
            <a:chExt cx="192" cy="192"/>
          </a:xfrm>
        </p:grpSpPr>
        <p:sp>
          <p:nvSpPr>
            <p:cNvPr id="13425" name="Oval 76"/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6" name="Line 77"/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78"/>
          <p:cNvGrpSpPr>
            <a:grpSpLocks/>
          </p:cNvGrpSpPr>
          <p:nvPr/>
        </p:nvGrpSpPr>
        <p:grpSpPr bwMode="auto">
          <a:xfrm>
            <a:off x="6705600" y="3786188"/>
            <a:ext cx="304800" cy="304800"/>
            <a:chOff x="1584" y="2400"/>
            <a:chExt cx="192" cy="192"/>
          </a:xfrm>
        </p:grpSpPr>
        <p:sp>
          <p:nvSpPr>
            <p:cNvPr id="13423" name="Oval 79"/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4" name="Line 80"/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81"/>
          <p:cNvGrpSpPr>
            <a:grpSpLocks/>
          </p:cNvGrpSpPr>
          <p:nvPr/>
        </p:nvGrpSpPr>
        <p:grpSpPr bwMode="auto">
          <a:xfrm>
            <a:off x="6705600" y="3481388"/>
            <a:ext cx="304800" cy="304800"/>
            <a:chOff x="1584" y="2400"/>
            <a:chExt cx="192" cy="192"/>
          </a:xfrm>
        </p:grpSpPr>
        <p:sp>
          <p:nvSpPr>
            <p:cNvPr id="13421" name="Oval 82"/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2" name="Line 83"/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84"/>
          <p:cNvGrpSpPr>
            <a:grpSpLocks/>
          </p:cNvGrpSpPr>
          <p:nvPr/>
        </p:nvGrpSpPr>
        <p:grpSpPr bwMode="auto">
          <a:xfrm>
            <a:off x="6499225" y="3232150"/>
            <a:ext cx="304800" cy="304800"/>
            <a:chOff x="1584" y="2400"/>
            <a:chExt cx="192" cy="192"/>
          </a:xfrm>
        </p:grpSpPr>
        <p:sp>
          <p:nvSpPr>
            <p:cNvPr id="13419" name="Oval 85"/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0" name="Line 86"/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87"/>
          <p:cNvGrpSpPr>
            <a:grpSpLocks/>
          </p:cNvGrpSpPr>
          <p:nvPr/>
        </p:nvGrpSpPr>
        <p:grpSpPr bwMode="auto">
          <a:xfrm>
            <a:off x="6156325" y="3213100"/>
            <a:ext cx="304800" cy="304800"/>
            <a:chOff x="1584" y="2400"/>
            <a:chExt cx="192" cy="192"/>
          </a:xfrm>
        </p:grpSpPr>
        <p:sp>
          <p:nvSpPr>
            <p:cNvPr id="13417" name="Oval 88"/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8" name="Line 89"/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med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Group 90"/>
          <p:cNvGrpSpPr>
            <a:grpSpLocks/>
          </p:cNvGrpSpPr>
          <p:nvPr/>
        </p:nvGrpSpPr>
        <p:grpSpPr bwMode="auto">
          <a:xfrm>
            <a:off x="6248400" y="3500438"/>
            <a:ext cx="304800" cy="304800"/>
            <a:chOff x="1584" y="2400"/>
            <a:chExt cx="192" cy="192"/>
          </a:xfrm>
        </p:grpSpPr>
        <p:sp>
          <p:nvSpPr>
            <p:cNvPr id="13415" name="Oval 91"/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6" name="Line 92"/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Group 93"/>
          <p:cNvGrpSpPr>
            <a:grpSpLocks/>
          </p:cNvGrpSpPr>
          <p:nvPr/>
        </p:nvGrpSpPr>
        <p:grpSpPr bwMode="auto">
          <a:xfrm>
            <a:off x="6400800" y="3786188"/>
            <a:ext cx="304800" cy="304800"/>
            <a:chOff x="1584" y="2400"/>
            <a:chExt cx="192" cy="192"/>
          </a:xfrm>
        </p:grpSpPr>
        <p:sp>
          <p:nvSpPr>
            <p:cNvPr id="13413" name="Oval 94"/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4" name="Line 95"/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96"/>
          <p:cNvGrpSpPr>
            <a:grpSpLocks/>
          </p:cNvGrpSpPr>
          <p:nvPr/>
        </p:nvGrpSpPr>
        <p:grpSpPr bwMode="auto">
          <a:xfrm>
            <a:off x="7385050" y="3252788"/>
            <a:ext cx="1039813" cy="1009650"/>
            <a:chOff x="4649" y="2049"/>
            <a:chExt cx="655" cy="636"/>
          </a:xfrm>
        </p:grpSpPr>
        <p:sp>
          <p:nvSpPr>
            <p:cNvPr id="13411" name="Oval 97"/>
            <p:cNvSpPr>
              <a:spLocks noChangeArrowheads="1"/>
            </p:cNvSpPr>
            <p:nvPr/>
          </p:nvSpPr>
          <p:spPr bwMode="auto">
            <a:xfrm>
              <a:off x="4649" y="2049"/>
              <a:ext cx="655" cy="636"/>
            </a:xfrm>
            <a:prstGeom prst="ellipse">
              <a:avLst/>
            </a:prstGeom>
            <a:noFill/>
            <a:ln w="412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0" name="Object 98"/>
            <p:cNvGraphicFramePr>
              <a:graphicFrameLocks noChangeAspect="1"/>
            </p:cNvGraphicFramePr>
            <p:nvPr/>
          </p:nvGraphicFramePr>
          <p:xfrm>
            <a:off x="4734" y="2220"/>
            <a:ext cx="263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44" name="Equation" r:id="rId13" imgW="355320" imgH="380880" progId="Equation.3">
                    <p:embed/>
                  </p:oleObj>
                </mc:Choice>
                <mc:Fallback>
                  <p:oleObj name="Equation" r:id="rId13" imgW="355320" imgH="380880" progId="Equation.3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2220"/>
                          <a:ext cx="263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99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412" name="Line 99"/>
            <p:cNvSpPr>
              <a:spLocks noChangeShapeType="1"/>
            </p:cNvSpPr>
            <p:nvPr/>
          </p:nvSpPr>
          <p:spPr bwMode="auto">
            <a:xfrm>
              <a:off x="4649" y="2334"/>
              <a:ext cx="0" cy="14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60" name="AutoShape 100"/>
          <p:cNvSpPr>
            <a:spLocks noChangeArrowheads="1"/>
          </p:cNvSpPr>
          <p:nvPr/>
        </p:nvSpPr>
        <p:spPr bwMode="auto">
          <a:xfrm rot="5377698">
            <a:off x="2304257" y="2599531"/>
            <a:ext cx="933450" cy="2449513"/>
          </a:xfrm>
          <a:prstGeom prst="can">
            <a:avLst>
              <a:gd name="adj" fmla="val 23459"/>
            </a:avLst>
          </a:prstGeom>
          <a:gradFill rotWithShape="1">
            <a:gsLst>
              <a:gs pos="0">
                <a:srgbClr val="184718"/>
              </a:gs>
              <a:gs pos="50000">
                <a:srgbClr val="339933"/>
              </a:gs>
              <a:gs pos="100000">
                <a:srgbClr val="184718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312" name="Group 101"/>
          <p:cNvGrpSpPr>
            <a:grpSpLocks/>
          </p:cNvGrpSpPr>
          <p:nvPr/>
        </p:nvGrpSpPr>
        <p:grpSpPr bwMode="auto">
          <a:xfrm>
            <a:off x="5556250" y="1439863"/>
            <a:ext cx="1676400" cy="544512"/>
            <a:chOff x="3360" y="713"/>
            <a:chExt cx="1056" cy="343"/>
          </a:xfrm>
        </p:grpSpPr>
        <p:sp>
          <p:nvSpPr>
            <p:cNvPr id="13410" name="Line 102"/>
            <p:cNvSpPr>
              <a:spLocks noChangeShapeType="1"/>
            </p:cNvSpPr>
            <p:nvPr/>
          </p:nvSpPr>
          <p:spPr bwMode="auto">
            <a:xfrm flipV="1">
              <a:off x="3360" y="1043"/>
              <a:ext cx="1056" cy="13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9" name="Object 103"/>
            <p:cNvGraphicFramePr>
              <a:graphicFrameLocks noChangeAspect="1"/>
            </p:cNvGraphicFramePr>
            <p:nvPr/>
          </p:nvGraphicFramePr>
          <p:xfrm>
            <a:off x="3716" y="713"/>
            <a:ext cx="256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45" name="Equation" r:id="rId15" imgW="406080" imgH="495000" progId="Equation.DSMT4">
                    <p:embed/>
                  </p:oleObj>
                </mc:Choice>
                <mc:Fallback>
                  <p:oleObj name="Equation" r:id="rId15" imgW="406080" imgH="495000" progId="Equation.DSMT4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6" y="713"/>
                          <a:ext cx="256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13" name="Group 104"/>
          <p:cNvGrpSpPr>
            <a:grpSpLocks/>
          </p:cNvGrpSpPr>
          <p:nvPr/>
        </p:nvGrpSpPr>
        <p:grpSpPr bwMode="auto">
          <a:xfrm flipV="1">
            <a:off x="1589088" y="3789363"/>
            <a:ext cx="2767012" cy="71437"/>
            <a:chOff x="3408" y="1776"/>
            <a:chExt cx="1488" cy="0"/>
          </a:xfrm>
        </p:grpSpPr>
        <p:sp>
          <p:nvSpPr>
            <p:cNvPr id="13408" name="Line 105"/>
            <p:cNvSpPr>
              <a:spLocks noChangeShapeType="1"/>
            </p:cNvSpPr>
            <p:nvPr/>
          </p:nvSpPr>
          <p:spPr bwMode="auto">
            <a:xfrm>
              <a:off x="3408" y="1776"/>
              <a:ext cx="1272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9" name="Freeform 106"/>
            <p:cNvSpPr>
              <a:spLocks/>
            </p:cNvSpPr>
            <p:nvPr/>
          </p:nvSpPr>
          <p:spPr bwMode="auto">
            <a:xfrm rot="5321072">
              <a:off x="4750" y="1630"/>
              <a:ext cx="0" cy="292"/>
            </a:xfrm>
            <a:custGeom>
              <a:avLst/>
              <a:gdLst>
                <a:gd name="T0" fmla="*/ 0 w 1"/>
                <a:gd name="T1" fmla="*/ 39 h 376"/>
                <a:gd name="T2" fmla="*/ 0 w 1"/>
                <a:gd name="T3" fmla="*/ 0 h 376"/>
                <a:gd name="T4" fmla="*/ 0 60000 65536"/>
                <a:gd name="T5" fmla="*/ 0 60000 65536"/>
                <a:gd name="T6" fmla="*/ 0 w 1"/>
                <a:gd name="T7" fmla="*/ 0 h 376"/>
                <a:gd name="T8" fmla="*/ 0 w 1"/>
                <a:gd name="T9" fmla="*/ 376 h 3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6">
                  <a:moveTo>
                    <a:pt x="0" y="376"/>
                  </a:moveTo>
                  <a:lnTo>
                    <a:pt x="0" y="0"/>
                  </a:lnTo>
                </a:path>
              </a:pathLst>
            </a:custGeom>
            <a:noFill/>
            <a:ln w="41275">
              <a:solidFill>
                <a:srgbClr val="0099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67" name="AutoShape 107"/>
          <p:cNvSpPr>
            <a:spLocks noChangeArrowheads="1"/>
          </p:cNvSpPr>
          <p:nvPr/>
        </p:nvSpPr>
        <p:spPr bwMode="auto">
          <a:xfrm>
            <a:off x="8243888" y="692150"/>
            <a:ext cx="654050" cy="2133600"/>
          </a:xfrm>
          <a:prstGeom prst="wedgeRectCallout">
            <a:avLst>
              <a:gd name="adj1" fmla="val -79370"/>
              <a:gd name="adj2" fmla="val 68676"/>
            </a:avLst>
          </a:prstGeom>
          <a:solidFill>
            <a:srgbClr val="FFFF00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vert="eaVert"/>
          <a:lstStyle/>
          <a:p>
            <a:pPr algn="ctr"/>
            <a:r>
              <a:rPr kumimoji="1" lang="zh-CN" altLang="en-US" sz="2800" b="1">
                <a:solidFill>
                  <a:srgbClr val="00006E"/>
                </a:solidFill>
                <a:latin typeface="Times New Roman" pitchFamily="18" charset="0"/>
              </a:rPr>
              <a:t>磁化面电流</a:t>
            </a:r>
          </a:p>
        </p:txBody>
      </p:sp>
      <p:sp>
        <p:nvSpPr>
          <p:cNvPr id="41068" name="Text Box 108"/>
          <p:cNvSpPr txBox="1">
            <a:spLocks noChangeArrowheads="1"/>
          </p:cNvSpPr>
          <p:nvPr/>
        </p:nvSpPr>
        <p:spPr bwMode="auto">
          <a:xfrm>
            <a:off x="1165225" y="5602288"/>
            <a:ext cx="7173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FF0000"/>
                </a:solidFill>
              </a:rPr>
              <a:t>② </a:t>
            </a:r>
            <a:r>
              <a:rPr kumimoji="1" lang="en-US" altLang="zh-CN" sz="2800" b="1" i="1">
                <a:latin typeface="Times New Roman" pitchFamily="18" charset="0"/>
              </a:rPr>
              <a:t>B</a:t>
            </a:r>
            <a:r>
              <a:rPr kumimoji="1" lang="en-US" altLang="zh-CN" sz="2800" b="1" baseline="-25000">
                <a:latin typeface="Times New Roman" pitchFamily="18" charset="0"/>
              </a:rPr>
              <a:t>0</a:t>
            </a:r>
            <a:r>
              <a:rPr kumimoji="1" lang="en-US" altLang="zh-CN" sz="2800" b="1">
                <a:latin typeface="Times New Roman" pitchFamily="18" charset="0"/>
                <a:sym typeface="Symbol" pitchFamily="18" charset="2"/>
              </a:rPr>
              <a:t></a:t>
            </a:r>
            <a:r>
              <a:rPr kumimoji="1" lang="zh-CN" altLang="en-US" sz="2800" b="1">
                <a:latin typeface="Times New Roman" pitchFamily="18" charset="0"/>
                <a:sym typeface="Symbol" pitchFamily="18" charset="2"/>
              </a:rPr>
              <a:t>强，</a:t>
            </a:r>
            <a:r>
              <a:rPr kumimoji="1" lang="zh-CN" altLang="en-US" sz="2800" b="1">
                <a:latin typeface="Times New Roman" pitchFamily="18" charset="0"/>
              </a:rPr>
              <a:t>温度越低（热运动缓慢）</a:t>
            </a:r>
          </a:p>
        </p:txBody>
      </p:sp>
      <p:graphicFrame>
        <p:nvGraphicFramePr>
          <p:cNvPr id="41069" name="Object 109"/>
          <p:cNvGraphicFramePr>
            <a:graphicFrameLocks noChangeAspect="1"/>
          </p:cNvGraphicFramePr>
          <p:nvPr/>
        </p:nvGraphicFramePr>
        <p:xfrm>
          <a:off x="1392238" y="6129338"/>
          <a:ext cx="7683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6" name="Equation" r:id="rId17" imgW="761760" imgH="469800" progId="Equation.DSMT4">
                  <p:embed/>
                </p:oleObj>
              </mc:Choice>
              <mc:Fallback>
                <p:oleObj name="Equation" r:id="rId17" imgW="761760" imgH="469800" progId="Equation.DSMT4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238" y="6129338"/>
                        <a:ext cx="7683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0" name="Text Box 110"/>
          <p:cNvSpPr txBox="1">
            <a:spLocks noChangeArrowheads="1"/>
          </p:cNvSpPr>
          <p:nvPr/>
        </p:nvSpPr>
        <p:spPr bwMode="auto">
          <a:xfrm>
            <a:off x="2057400" y="6161088"/>
            <a:ext cx="708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imes New Roman" pitchFamily="18" charset="0"/>
                <a:ea typeface="黑体" pitchFamily="2" charset="-122"/>
              </a:rPr>
              <a:t>排列越整齐，磁化面电流越大，磁化越厉害</a:t>
            </a:r>
          </a:p>
        </p:txBody>
      </p:sp>
      <p:grpSp>
        <p:nvGrpSpPr>
          <p:cNvPr id="13314" name="Group 111"/>
          <p:cNvGrpSpPr>
            <a:grpSpLocks/>
          </p:cNvGrpSpPr>
          <p:nvPr/>
        </p:nvGrpSpPr>
        <p:grpSpPr bwMode="auto">
          <a:xfrm>
            <a:off x="4643438" y="3454400"/>
            <a:ext cx="827087" cy="550863"/>
            <a:chOff x="5088" y="1689"/>
            <a:chExt cx="516" cy="335"/>
          </a:xfrm>
        </p:grpSpPr>
        <p:sp>
          <p:nvSpPr>
            <p:cNvPr id="13407" name="Text Box 112"/>
            <p:cNvSpPr txBox="1">
              <a:spLocks noChangeArrowheads="1"/>
            </p:cNvSpPr>
            <p:nvPr/>
          </p:nvSpPr>
          <p:spPr bwMode="auto">
            <a:xfrm>
              <a:off x="5088" y="1689"/>
              <a:ext cx="338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latin typeface="Times New Roman" pitchFamily="18" charset="0"/>
                </a:rPr>
                <a:t>∥</a:t>
              </a:r>
            </a:p>
          </p:txBody>
        </p:sp>
        <p:graphicFrame>
          <p:nvGraphicFramePr>
            <p:cNvPr id="13328" name="Object 113"/>
            <p:cNvGraphicFramePr>
              <a:graphicFrameLocks noChangeAspect="1"/>
            </p:cNvGraphicFramePr>
            <p:nvPr/>
          </p:nvGraphicFramePr>
          <p:xfrm>
            <a:off x="5348" y="1712"/>
            <a:ext cx="2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47" name="Equation" r:id="rId19" imgW="406080" imgH="495000" progId="Equation.DSMT4">
                    <p:embed/>
                  </p:oleObj>
                </mc:Choice>
                <mc:Fallback>
                  <p:oleObj name="Equation" r:id="rId19" imgW="406080" imgH="495000" progId="Equation.DSMT4">
                    <p:embed/>
                    <p:pic>
                      <p:nvPicPr>
                        <p:cNvPr id="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8" y="1712"/>
                          <a:ext cx="2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15" name="Group 114"/>
          <p:cNvGrpSpPr>
            <a:grpSpLocks/>
          </p:cNvGrpSpPr>
          <p:nvPr/>
        </p:nvGrpSpPr>
        <p:grpSpPr bwMode="auto">
          <a:xfrm>
            <a:off x="2805113" y="949325"/>
            <a:ext cx="1949450" cy="523875"/>
            <a:chOff x="1879" y="605"/>
            <a:chExt cx="1228" cy="330"/>
          </a:xfrm>
        </p:grpSpPr>
        <p:graphicFrame>
          <p:nvGraphicFramePr>
            <p:cNvPr id="13327" name="Object 115"/>
            <p:cNvGraphicFramePr>
              <a:graphicFrameLocks noChangeAspect="1"/>
            </p:cNvGraphicFramePr>
            <p:nvPr/>
          </p:nvGraphicFramePr>
          <p:xfrm>
            <a:off x="1879" y="639"/>
            <a:ext cx="48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48" name="Equation" r:id="rId21" imgW="761760" imgH="469800" progId="Equation.DSMT4">
                    <p:embed/>
                  </p:oleObj>
                </mc:Choice>
                <mc:Fallback>
                  <p:oleObj name="Equation" r:id="rId21" imgW="761760" imgH="469800" progId="Equation.DSMT4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9" y="639"/>
                          <a:ext cx="48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405" name="Line 116"/>
            <p:cNvSpPr>
              <a:spLocks noChangeShapeType="1"/>
            </p:cNvSpPr>
            <p:nvPr/>
          </p:nvSpPr>
          <p:spPr bwMode="auto">
            <a:xfrm>
              <a:off x="1927" y="686"/>
              <a:ext cx="10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 type="arrow" w="sm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6" name="Text Box 117"/>
            <p:cNvSpPr txBox="1">
              <a:spLocks noChangeArrowheads="1"/>
            </p:cNvSpPr>
            <p:nvPr/>
          </p:nvSpPr>
          <p:spPr bwMode="auto">
            <a:xfrm>
              <a:off x="2339" y="605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latin typeface="Times New Roman" pitchFamily="18" charset="0"/>
                </a:rPr>
                <a:t>≠ 0</a:t>
              </a:r>
            </a:p>
          </p:txBody>
        </p:sp>
      </p:grpSp>
      <p:graphicFrame>
        <p:nvGraphicFramePr>
          <p:cNvPr id="41083" name="Object 123"/>
          <p:cNvGraphicFramePr>
            <a:graphicFrameLocks noChangeAspect="1"/>
          </p:cNvGraphicFramePr>
          <p:nvPr/>
        </p:nvGraphicFramePr>
        <p:xfrm>
          <a:off x="3690938" y="4471988"/>
          <a:ext cx="20081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9" name="Equation" r:id="rId23" imgW="2145960" imgH="469800" progId="Equation.DSMT4">
                  <p:embed/>
                </p:oleObj>
              </mc:Choice>
              <mc:Fallback>
                <p:oleObj name="Equation" r:id="rId23" imgW="2145960" imgH="469800" progId="Equation.DSMT4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938" y="4471988"/>
                        <a:ext cx="20081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84" name="Text Box 124"/>
          <p:cNvSpPr txBox="1">
            <a:spLocks noChangeArrowheads="1"/>
          </p:cNvSpPr>
          <p:nvPr/>
        </p:nvSpPr>
        <p:spPr bwMode="auto">
          <a:xfrm>
            <a:off x="425450" y="4465638"/>
            <a:ext cx="477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注：</a:t>
            </a:r>
            <a:r>
              <a:rPr kumimoji="1" lang="zh-CN" altLang="en-US" sz="2800" b="1">
                <a:solidFill>
                  <a:srgbClr val="FF0000"/>
                </a:solidFill>
              </a:rPr>
              <a:t>① </a:t>
            </a:r>
            <a:r>
              <a:rPr kumimoji="1" lang="zh-CN" altLang="en-US" sz="2800" b="1">
                <a:latin typeface="Times New Roman" pitchFamily="18" charset="0"/>
              </a:rPr>
              <a:t>在有外场时，</a:t>
            </a:r>
          </a:p>
        </p:txBody>
      </p:sp>
      <p:grpSp>
        <p:nvGrpSpPr>
          <p:cNvPr id="13316" name="Group 125"/>
          <p:cNvGrpSpPr>
            <a:grpSpLocks/>
          </p:cNvGrpSpPr>
          <p:nvPr/>
        </p:nvGrpSpPr>
        <p:grpSpPr bwMode="auto">
          <a:xfrm>
            <a:off x="1358900" y="4986338"/>
            <a:ext cx="7299325" cy="525462"/>
            <a:chOff x="856" y="3141"/>
            <a:chExt cx="4598" cy="331"/>
          </a:xfrm>
        </p:grpSpPr>
        <p:sp>
          <p:nvSpPr>
            <p:cNvPr id="13404" name="Text Box 126"/>
            <p:cNvSpPr txBox="1">
              <a:spLocks noChangeArrowheads="1"/>
            </p:cNvSpPr>
            <p:nvPr/>
          </p:nvSpPr>
          <p:spPr bwMode="auto">
            <a:xfrm>
              <a:off x="856" y="3141"/>
              <a:ext cx="45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latin typeface="Times New Roman" pitchFamily="18" charset="0"/>
                  <a:ea typeface="黑体" pitchFamily="2" charset="-122"/>
                </a:rPr>
                <a:t>固有磁矩</a:t>
              </a:r>
              <a:r>
                <a:rPr kumimoji="1" lang="zh-CN" altLang="en-US" sz="2800" b="1">
                  <a:latin typeface="Times New Roman" pitchFamily="18" charset="0"/>
                </a:rPr>
                <a:t>       </a:t>
              </a:r>
              <a:r>
                <a:rPr kumimoji="1" lang="zh-CN" altLang="en-US" sz="2400" b="1">
                  <a:latin typeface="Times New Roman" pitchFamily="18" charset="0"/>
                  <a:ea typeface="黑体" pitchFamily="2" charset="-122"/>
                </a:rPr>
                <a:t>是顺磁质产生磁效应的主要原因</a:t>
              </a:r>
            </a:p>
          </p:txBody>
        </p:sp>
        <p:graphicFrame>
          <p:nvGraphicFramePr>
            <p:cNvPr id="13326" name="Object 127"/>
            <p:cNvGraphicFramePr>
              <a:graphicFrameLocks noChangeAspect="1"/>
            </p:cNvGraphicFramePr>
            <p:nvPr/>
          </p:nvGraphicFramePr>
          <p:xfrm>
            <a:off x="1669" y="3168"/>
            <a:ext cx="43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0" name="Equation" r:id="rId25" imgW="736560" imgH="482400" progId="Equation.DSMT4">
                    <p:embed/>
                  </p:oleObj>
                </mc:Choice>
                <mc:Fallback>
                  <p:oleObj name="Equation" r:id="rId25" imgW="736560" imgH="482400" progId="Equation.DSMT4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9" y="3168"/>
                          <a:ext cx="431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17" name="Group 129"/>
          <p:cNvGrpSpPr>
            <a:grpSpLocks/>
          </p:cNvGrpSpPr>
          <p:nvPr/>
        </p:nvGrpSpPr>
        <p:grpSpPr bwMode="auto">
          <a:xfrm>
            <a:off x="1692275" y="3284538"/>
            <a:ext cx="2736850" cy="1008062"/>
            <a:chOff x="248" y="2061"/>
            <a:chExt cx="1969" cy="731"/>
          </a:xfrm>
        </p:grpSpPr>
        <p:sp>
          <p:nvSpPr>
            <p:cNvPr id="13396" name="Arc 130"/>
            <p:cNvSpPr>
              <a:spLocks/>
            </p:cNvSpPr>
            <p:nvPr/>
          </p:nvSpPr>
          <p:spPr bwMode="auto">
            <a:xfrm flipV="1">
              <a:off x="1401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7" name="Arc 131"/>
            <p:cNvSpPr>
              <a:spLocks/>
            </p:cNvSpPr>
            <p:nvPr/>
          </p:nvSpPr>
          <p:spPr bwMode="auto">
            <a:xfrm flipV="1">
              <a:off x="1593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8" name="Arc 132"/>
            <p:cNvSpPr>
              <a:spLocks/>
            </p:cNvSpPr>
            <p:nvPr/>
          </p:nvSpPr>
          <p:spPr bwMode="auto">
            <a:xfrm flipV="1">
              <a:off x="248" y="2061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9" name="Arc 133"/>
            <p:cNvSpPr>
              <a:spLocks/>
            </p:cNvSpPr>
            <p:nvPr/>
          </p:nvSpPr>
          <p:spPr bwMode="auto">
            <a:xfrm flipV="1">
              <a:off x="438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00" name="Arc 134"/>
            <p:cNvSpPr>
              <a:spLocks/>
            </p:cNvSpPr>
            <p:nvPr/>
          </p:nvSpPr>
          <p:spPr bwMode="auto">
            <a:xfrm flipV="1">
              <a:off x="630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01" name="Arc 135"/>
            <p:cNvSpPr>
              <a:spLocks/>
            </p:cNvSpPr>
            <p:nvPr/>
          </p:nvSpPr>
          <p:spPr bwMode="auto">
            <a:xfrm flipV="1">
              <a:off x="823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02" name="Arc 136"/>
            <p:cNvSpPr>
              <a:spLocks/>
            </p:cNvSpPr>
            <p:nvPr/>
          </p:nvSpPr>
          <p:spPr bwMode="auto">
            <a:xfrm flipV="1">
              <a:off x="1015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03" name="Arc 137"/>
            <p:cNvSpPr>
              <a:spLocks/>
            </p:cNvSpPr>
            <p:nvPr/>
          </p:nvSpPr>
          <p:spPr bwMode="auto">
            <a:xfrm flipV="1">
              <a:off x="1207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1098" name="Object 138"/>
          <p:cNvGraphicFramePr>
            <a:graphicFrameLocks noChangeAspect="1"/>
          </p:cNvGraphicFramePr>
          <p:nvPr/>
        </p:nvGraphicFramePr>
        <p:xfrm>
          <a:off x="2319338" y="3611563"/>
          <a:ext cx="3810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51" name="Equation" r:id="rId27" imgW="291960" imgH="317160" progId="Equation.3">
                  <p:embed/>
                </p:oleObj>
              </mc:Choice>
              <mc:Fallback>
                <p:oleObj name="Equation" r:id="rId27" imgW="291960" imgH="317160" progId="Equation.3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3611563"/>
                        <a:ext cx="381000" cy="366712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8" name="Group 139"/>
          <p:cNvGrpSpPr>
            <a:grpSpLocks/>
          </p:cNvGrpSpPr>
          <p:nvPr/>
        </p:nvGrpSpPr>
        <p:grpSpPr bwMode="auto">
          <a:xfrm>
            <a:off x="1331913" y="3292475"/>
            <a:ext cx="3457575" cy="1182688"/>
            <a:chOff x="2789" y="164"/>
            <a:chExt cx="2178" cy="745"/>
          </a:xfrm>
        </p:grpSpPr>
        <p:sp>
          <p:nvSpPr>
            <p:cNvPr id="13394" name="Line 140"/>
            <p:cNvSpPr>
              <a:spLocks noChangeShapeType="1"/>
            </p:cNvSpPr>
            <p:nvPr/>
          </p:nvSpPr>
          <p:spPr bwMode="auto">
            <a:xfrm>
              <a:off x="2789" y="164"/>
              <a:ext cx="182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395" name="Line 141"/>
            <p:cNvSpPr>
              <a:spLocks noChangeShapeType="1"/>
            </p:cNvSpPr>
            <p:nvPr/>
          </p:nvSpPr>
          <p:spPr bwMode="auto">
            <a:xfrm>
              <a:off x="2835" y="845"/>
              <a:ext cx="181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325" name="Object 142"/>
            <p:cNvGraphicFramePr>
              <a:graphicFrameLocks noChangeAspect="1"/>
            </p:cNvGraphicFramePr>
            <p:nvPr/>
          </p:nvGraphicFramePr>
          <p:xfrm>
            <a:off x="4648" y="618"/>
            <a:ext cx="31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2" name="Equation" r:id="rId29" imgW="431640" imgH="482400" progId="Equation.3">
                    <p:embed/>
                  </p:oleObj>
                </mc:Choice>
                <mc:Fallback>
                  <p:oleObj name="Equation" r:id="rId29" imgW="431640" imgH="482400" progId="Equation.3">
                    <p:embed/>
                    <p:pic>
                      <p:nvPicPr>
                        <p:cNvPr id="0" name="Object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" y="618"/>
                          <a:ext cx="319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19" name="Group 143"/>
          <p:cNvGrpSpPr>
            <a:grpSpLocks/>
          </p:cNvGrpSpPr>
          <p:nvPr/>
        </p:nvGrpSpPr>
        <p:grpSpPr bwMode="auto">
          <a:xfrm>
            <a:off x="6156325" y="546100"/>
            <a:ext cx="1912938" cy="795338"/>
            <a:chOff x="3671" y="253"/>
            <a:chExt cx="1205" cy="501"/>
          </a:xfrm>
        </p:grpSpPr>
        <p:sp>
          <p:nvSpPr>
            <p:cNvPr id="13389" name="Rectangle 144" descr="蓝色面巾纸"/>
            <p:cNvSpPr>
              <a:spLocks noChangeArrowheads="1"/>
            </p:cNvSpPr>
            <p:nvPr/>
          </p:nvSpPr>
          <p:spPr bwMode="auto">
            <a:xfrm>
              <a:off x="3810" y="323"/>
              <a:ext cx="768" cy="363"/>
            </a:xfrm>
            <a:prstGeom prst="rect">
              <a:avLst/>
            </a:prstGeom>
            <a:blipFill dpi="0" rotWithShape="1">
              <a:blip r:embed="rId31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90" name="Line 145"/>
            <p:cNvSpPr>
              <a:spLocks noChangeShapeType="1"/>
            </p:cNvSpPr>
            <p:nvPr/>
          </p:nvSpPr>
          <p:spPr bwMode="auto">
            <a:xfrm>
              <a:off x="3972" y="550"/>
              <a:ext cx="383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323" name="Object 146"/>
            <p:cNvGraphicFramePr>
              <a:graphicFrameLocks noChangeAspect="1"/>
            </p:cNvGraphicFramePr>
            <p:nvPr/>
          </p:nvGraphicFramePr>
          <p:xfrm>
            <a:off x="4037" y="323"/>
            <a:ext cx="28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3" name="公式" r:id="rId32" imgW="342720" imgH="317160" progId="Equation.3">
                    <p:embed/>
                  </p:oleObj>
                </mc:Choice>
                <mc:Fallback>
                  <p:oleObj name="公式" r:id="rId32" imgW="342720" imgH="317160" progId="Equation.3">
                    <p:embed/>
                    <p:pic>
                      <p:nvPicPr>
                        <p:cNvPr id="0" name="Object 1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7" y="323"/>
                          <a:ext cx="28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91" name="Group 147"/>
            <p:cNvGrpSpPr>
              <a:grpSpLocks/>
            </p:cNvGrpSpPr>
            <p:nvPr/>
          </p:nvGrpSpPr>
          <p:grpSpPr bwMode="auto">
            <a:xfrm>
              <a:off x="3671" y="253"/>
              <a:ext cx="1205" cy="501"/>
              <a:chOff x="518" y="1092"/>
              <a:chExt cx="1205" cy="524"/>
            </a:xfrm>
          </p:grpSpPr>
          <p:sp>
            <p:nvSpPr>
              <p:cNvPr id="13392" name="Line 148"/>
              <p:cNvSpPr>
                <a:spLocks noChangeShapeType="1"/>
              </p:cNvSpPr>
              <p:nvPr/>
            </p:nvSpPr>
            <p:spPr bwMode="auto">
              <a:xfrm>
                <a:off x="518" y="1092"/>
                <a:ext cx="1088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393" name="Line 149"/>
              <p:cNvSpPr>
                <a:spLocks noChangeShapeType="1"/>
              </p:cNvSpPr>
              <p:nvPr/>
            </p:nvSpPr>
            <p:spPr bwMode="auto">
              <a:xfrm>
                <a:off x="518" y="1616"/>
                <a:ext cx="11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3324" name="Object 150"/>
              <p:cNvGraphicFramePr>
                <a:graphicFrameLocks noChangeAspect="1"/>
              </p:cNvGraphicFramePr>
              <p:nvPr/>
            </p:nvGraphicFramePr>
            <p:xfrm>
              <a:off x="1467" y="1108"/>
              <a:ext cx="256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054" name="Equation" r:id="rId34" imgW="406080" imgH="495000" progId="Equation.DSMT4">
                      <p:embed/>
                    </p:oleObj>
                  </mc:Choice>
                  <mc:Fallback>
                    <p:oleObj name="Equation" r:id="rId34" imgW="406080" imgH="495000" progId="Equation.DSMT4">
                      <p:embed/>
                      <p:pic>
                        <p:nvPicPr>
                          <p:cNvPr id="0" name="Object 1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7" y="1108"/>
                            <a:ext cx="256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1141" name="AutoShape 181"/>
          <p:cNvSpPr>
            <a:spLocks noChangeArrowheads="1"/>
          </p:cNvSpPr>
          <p:nvPr/>
        </p:nvSpPr>
        <p:spPr bwMode="auto">
          <a:xfrm>
            <a:off x="4572000" y="423863"/>
            <a:ext cx="2914650" cy="1495425"/>
          </a:xfrm>
          <a:prstGeom prst="cloudCallout">
            <a:avLst>
              <a:gd name="adj1" fmla="val -49130"/>
              <a:gd name="adj2" fmla="val 82588"/>
            </a:avLst>
          </a:prstGeom>
          <a:solidFill>
            <a:schemeClr val="bg1"/>
          </a:solidFill>
          <a:ln w="1905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grpSp>
        <p:nvGrpSpPr>
          <p:cNvPr id="13332" name="Group 182"/>
          <p:cNvGrpSpPr>
            <a:grpSpLocks/>
          </p:cNvGrpSpPr>
          <p:nvPr/>
        </p:nvGrpSpPr>
        <p:grpSpPr bwMode="auto">
          <a:xfrm>
            <a:off x="5329238" y="554038"/>
            <a:ext cx="1585912" cy="1150937"/>
            <a:chOff x="576" y="715"/>
            <a:chExt cx="999" cy="725"/>
          </a:xfrm>
        </p:grpSpPr>
        <p:sp>
          <p:nvSpPr>
            <p:cNvPr id="13373" name="Line 183"/>
            <p:cNvSpPr>
              <a:spLocks noChangeShapeType="1"/>
            </p:cNvSpPr>
            <p:nvPr/>
          </p:nvSpPr>
          <p:spPr bwMode="auto">
            <a:xfrm>
              <a:off x="576" y="87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4" name="Line 184"/>
            <p:cNvSpPr>
              <a:spLocks noChangeShapeType="1"/>
            </p:cNvSpPr>
            <p:nvPr/>
          </p:nvSpPr>
          <p:spPr bwMode="auto">
            <a:xfrm>
              <a:off x="576" y="111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5" name="Line 185"/>
            <p:cNvSpPr>
              <a:spLocks noChangeShapeType="1"/>
            </p:cNvSpPr>
            <p:nvPr/>
          </p:nvSpPr>
          <p:spPr bwMode="auto">
            <a:xfrm>
              <a:off x="576" y="135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21" name="Object 186"/>
            <p:cNvGraphicFramePr>
              <a:graphicFrameLocks noChangeAspect="1"/>
            </p:cNvGraphicFramePr>
            <p:nvPr/>
          </p:nvGraphicFramePr>
          <p:xfrm>
            <a:off x="1200" y="1155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5" name="公式" r:id="rId36" imgW="164880" imgH="190440" progId="Equation.3">
                    <p:embed/>
                  </p:oleObj>
                </mc:Choice>
                <mc:Fallback>
                  <p:oleObj name="公式" r:id="rId36" imgW="164880" imgH="190440" progId="Equation.3">
                    <p:embed/>
                    <p:pic>
                      <p:nvPicPr>
                        <p:cNvPr id="0" name="Object 1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155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6" name="Line 187"/>
            <p:cNvSpPr>
              <a:spLocks noChangeShapeType="1"/>
            </p:cNvSpPr>
            <p:nvPr/>
          </p:nvSpPr>
          <p:spPr bwMode="auto">
            <a:xfrm rot="-1516731">
              <a:off x="907" y="1038"/>
              <a:ext cx="384" cy="0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22" name="Object 188"/>
            <p:cNvGraphicFramePr>
              <a:graphicFrameLocks noChangeAspect="1"/>
            </p:cNvGraphicFramePr>
            <p:nvPr/>
          </p:nvGraphicFramePr>
          <p:xfrm>
            <a:off x="1239" y="715"/>
            <a:ext cx="3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056" name="公式" r:id="rId38" imgW="228600" imgH="228600" progId="Equation.3">
                    <p:embed/>
                  </p:oleObj>
                </mc:Choice>
                <mc:Fallback>
                  <p:oleObj name="公式" r:id="rId38" imgW="228600" imgH="228600" progId="Equation.3">
                    <p:embed/>
                    <p:pic>
                      <p:nvPicPr>
                        <p:cNvPr id="0" name="Object 1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9" y="715"/>
                          <a:ext cx="3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77" name="Group 189"/>
            <p:cNvGrpSpPr>
              <a:grpSpLocks/>
            </p:cNvGrpSpPr>
            <p:nvPr/>
          </p:nvGrpSpPr>
          <p:grpSpPr bwMode="auto">
            <a:xfrm>
              <a:off x="722" y="852"/>
              <a:ext cx="336" cy="588"/>
              <a:chOff x="722" y="778"/>
              <a:chExt cx="336" cy="588"/>
            </a:xfrm>
          </p:grpSpPr>
          <p:sp>
            <p:nvSpPr>
              <p:cNvPr id="13378" name="Line 190"/>
              <p:cNvSpPr>
                <a:spLocks noChangeShapeType="1"/>
              </p:cNvSpPr>
              <p:nvPr/>
            </p:nvSpPr>
            <p:spPr bwMode="auto">
              <a:xfrm rot="-1516731">
                <a:off x="847" y="83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" name="Line 191"/>
              <p:cNvSpPr>
                <a:spLocks noChangeShapeType="1"/>
              </p:cNvSpPr>
              <p:nvPr/>
            </p:nvSpPr>
            <p:spPr bwMode="auto">
              <a:xfrm rot="-1516731">
                <a:off x="934" y="796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380" name="Group 192"/>
              <p:cNvGrpSpPr>
                <a:grpSpLocks/>
              </p:cNvGrpSpPr>
              <p:nvPr/>
            </p:nvGrpSpPr>
            <p:grpSpPr bwMode="auto">
              <a:xfrm rot="-1516731">
                <a:off x="952" y="1246"/>
                <a:ext cx="96" cy="96"/>
                <a:chOff x="864" y="3216"/>
                <a:chExt cx="96" cy="96"/>
              </a:xfrm>
            </p:grpSpPr>
            <p:sp>
              <p:nvSpPr>
                <p:cNvPr id="13385" name="Oval 193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3386" name="Group 194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13387" name="Line 195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88" name="Line 19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3381" name="Group 197"/>
              <p:cNvGrpSpPr>
                <a:grpSpLocks/>
              </p:cNvGrpSpPr>
              <p:nvPr/>
            </p:nvGrpSpPr>
            <p:grpSpPr bwMode="auto">
              <a:xfrm rot="-1516731">
                <a:off x="722" y="778"/>
                <a:ext cx="96" cy="96"/>
                <a:chOff x="960" y="3024"/>
                <a:chExt cx="96" cy="96"/>
              </a:xfrm>
            </p:grpSpPr>
            <p:sp>
              <p:nvSpPr>
                <p:cNvPr id="13383" name="Oval 198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84" name="Oval 199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3382" name="Line 200"/>
              <p:cNvSpPr>
                <a:spLocks noChangeShapeType="1"/>
              </p:cNvSpPr>
              <p:nvPr/>
            </p:nvSpPr>
            <p:spPr bwMode="auto">
              <a:xfrm>
                <a:off x="1058" y="1066"/>
                <a:ext cx="0" cy="48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 type="none" w="med" len="lg"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337" name="Group 210"/>
          <p:cNvGrpSpPr>
            <a:grpSpLocks/>
          </p:cNvGrpSpPr>
          <p:nvPr/>
        </p:nvGrpSpPr>
        <p:grpSpPr bwMode="auto">
          <a:xfrm rot="357052">
            <a:off x="3587750" y="2171700"/>
            <a:ext cx="366713" cy="457200"/>
            <a:chOff x="2467" y="29"/>
            <a:chExt cx="231" cy="288"/>
          </a:xfrm>
        </p:grpSpPr>
        <p:sp>
          <p:nvSpPr>
            <p:cNvPr id="13371" name="Oval 207"/>
            <p:cNvSpPr>
              <a:spLocks noChangeArrowheads="1"/>
            </p:cNvSpPr>
            <p:nvPr/>
          </p:nvSpPr>
          <p:spPr bwMode="auto">
            <a:xfrm rot="4891981">
              <a:off x="2369" y="127"/>
              <a:ext cx="288" cy="9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2" name="Line 208"/>
            <p:cNvSpPr>
              <a:spLocks noChangeShapeType="1"/>
            </p:cNvSpPr>
            <p:nvPr/>
          </p:nvSpPr>
          <p:spPr bwMode="auto">
            <a:xfrm rot="4891981" flipV="1">
              <a:off x="2605" y="72"/>
              <a:ext cx="5" cy="18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70" name="Text Box 75"/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75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9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8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41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1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1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5" dur="500"/>
                                        <p:tgtEl>
                                          <p:spTgt spid="4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75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75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75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75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3" dur="500"/>
                                        <p:tgtEl>
                                          <p:spTgt spid="4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41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1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7" dur="500"/>
                                        <p:tgtEl>
                                          <p:spTgt spid="4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2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75"/>
                                        <p:tgtEl>
                                          <p:spTgt spid="4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2" dur="500"/>
                                        <p:tgtEl>
                                          <p:spTgt spid="4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75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75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75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75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4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75" fill="hold"/>
                                        <p:tgtEl>
                                          <p:spTgt spid="41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75" fill="hold"/>
                                        <p:tgtEl>
                                          <p:spTgt spid="41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75" fill="hold"/>
                                        <p:tgtEl>
                                          <p:spTgt spid="41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75" fill="hold"/>
                                        <p:tgtEl>
                                          <p:spTgt spid="41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40" grpId="0" animBg="1"/>
      <p:bldP spid="41111" grpId="0" animBg="1"/>
      <p:bldP spid="40962" grpId="0" autoUpdateAnimBg="0"/>
      <p:bldP spid="40963" grpId="0" autoUpdateAnimBg="0"/>
      <p:bldP spid="40967" grpId="0" animBg="1"/>
      <p:bldP spid="41024" grpId="0" animBg="1"/>
      <p:bldP spid="41025" grpId="0" animBg="1"/>
      <p:bldP spid="41060" grpId="0" animBg="1"/>
      <p:bldP spid="41067" grpId="0" animBg="1" autoUpdateAnimBg="0"/>
      <p:bldP spid="41068" grpId="0" autoUpdateAnimBg="0"/>
      <p:bldP spid="41070" grpId="0" autoUpdateAnimBg="0"/>
      <p:bldP spid="41084" grpId="0" autoUpdateAnimBg="0"/>
      <p:bldP spid="41141" grpId="0" animBg="1"/>
      <p:bldP spid="4114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06" name="AutoShape 122"/>
          <p:cNvSpPr>
            <a:spLocks noChangeArrowheads="1"/>
          </p:cNvSpPr>
          <p:nvPr/>
        </p:nvSpPr>
        <p:spPr bwMode="auto">
          <a:xfrm rot="5377698">
            <a:off x="1802607" y="2620169"/>
            <a:ext cx="933450" cy="2224087"/>
          </a:xfrm>
          <a:prstGeom prst="can">
            <a:avLst>
              <a:gd name="adj" fmla="val 21300"/>
            </a:avLst>
          </a:prstGeom>
          <a:gradFill rotWithShape="1">
            <a:gsLst>
              <a:gs pos="0">
                <a:schemeClr val="bg2">
                  <a:gamma/>
                  <a:shade val="46275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1986" name="AutoShape 2"/>
          <p:cNvSpPr>
            <a:spLocks noChangeArrowheads="1"/>
          </p:cNvSpPr>
          <p:nvPr/>
        </p:nvSpPr>
        <p:spPr bwMode="auto">
          <a:xfrm>
            <a:off x="107950" y="5445125"/>
            <a:ext cx="1441450" cy="1223963"/>
          </a:xfrm>
          <a:prstGeom prst="irregularSeal1">
            <a:avLst/>
          </a:prstGeom>
          <a:solidFill>
            <a:srgbClr val="FFFF00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677863" y="354013"/>
            <a:ext cx="3533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</a:rPr>
              <a:t>2</a:t>
            </a:r>
            <a:r>
              <a:rPr kumimoji="1" lang="en-US" altLang="zh-CN" sz="2800" b="1">
                <a:latin typeface="Times New Roman" pitchFamily="18" charset="0"/>
                <a:cs typeface="Times New Roman" pitchFamily="18" charset="0"/>
              </a:rPr>
              <a:t>º</a:t>
            </a:r>
            <a:r>
              <a:rPr kumimoji="1" lang="en-US" altLang="zh-CN" sz="2800" b="1">
                <a:latin typeface="Times New Roman" pitchFamily="18" charset="0"/>
              </a:rPr>
              <a:t> </a:t>
            </a:r>
            <a:r>
              <a:rPr kumimoji="1" lang="zh-CN" altLang="en-US" sz="2800" b="1">
                <a:latin typeface="宋体" pitchFamily="2" charset="-122"/>
              </a:rPr>
              <a:t>抗磁性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763713" y="2395538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电子附加一个磁矩</a:t>
            </a:r>
          </a:p>
        </p:txBody>
      </p:sp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5126038" y="2447925"/>
          <a:ext cx="8540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5" name="Equation" r:id="rId3" imgW="736560" imgH="431640" progId="Equation.DSMT4">
                  <p:embed/>
                </p:oleObj>
              </mc:Choice>
              <mc:Fallback>
                <p:oleObj name="Equation" r:id="rId3" imgW="73656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6038" y="2447925"/>
                        <a:ext cx="8540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5873750" y="2398713"/>
          <a:ext cx="13589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6" name="Equation" r:id="rId5" imgW="1269720" imgH="469800" progId="Equation.DSMT4">
                  <p:embed/>
                </p:oleObj>
              </mc:Choice>
              <mc:Fallback>
                <p:oleObj name="Equation" r:id="rId5" imgW="1269720" imgH="469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2398713"/>
                        <a:ext cx="13589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3311525" y="2816225"/>
          <a:ext cx="4048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7" name="Equation" r:id="rId7" imgW="406080" imgH="495000" progId="Equation.DSMT4">
                  <p:embed/>
                </p:oleObj>
              </mc:Choice>
              <mc:Fallback>
                <p:oleObj name="Equation" r:id="rId7" imgW="406080" imgH="495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2816225"/>
                        <a:ext cx="40481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/>
        </p:nvGraphicFramePr>
        <p:xfrm>
          <a:off x="4859338" y="3789363"/>
          <a:ext cx="4572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8" name="Equation" r:id="rId9" imgW="406080" imgH="355320" progId="Equation.3">
                  <p:embed/>
                </p:oleObj>
              </mc:Choice>
              <mc:Fallback>
                <p:oleObj name="Equation" r:id="rId9" imgW="406080" imgH="3553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789363"/>
                        <a:ext cx="4572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Text Box 10"/>
          <p:cNvSpPr txBox="1">
            <a:spLocks noChangeArrowheads="1"/>
          </p:cNvSpPr>
          <p:nvPr/>
        </p:nvSpPr>
        <p:spPr bwMode="auto">
          <a:xfrm>
            <a:off x="4787900" y="2360613"/>
            <a:ext cx="593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3200" b="1">
                <a:latin typeface="Times New Roman" pitchFamily="18" charset="0"/>
              </a:rPr>
              <a:t>∑</a:t>
            </a:r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3851275" y="1379538"/>
            <a:ext cx="1600200" cy="609600"/>
          </a:xfrm>
          <a:prstGeom prst="rect">
            <a:avLst/>
          </a:prstGeom>
          <a:gradFill rotWithShape="1">
            <a:gsLst>
              <a:gs pos="0">
                <a:srgbClr val="2C2C2C"/>
              </a:gs>
              <a:gs pos="50000">
                <a:srgbClr val="5F5F5F"/>
              </a:gs>
              <a:gs pos="100000">
                <a:srgbClr val="2C2C2C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996" name="Object 12"/>
          <p:cNvGraphicFramePr>
            <a:graphicFrameLocks noChangeAspect="1"/>
          </p:cNvGraphicFramePr>
          <p:nvPr/>
        </p:nvGraphicFramePr>
        <p:xfrm>
          <a:off x="2771775" y="1457325"/>
          <a:ext cx="876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" name="Equation" r:id="rId11" imgW="876240" imgH="495000" progId="Equation.DSMT4">
                  <p:embed/>
                </p:oleObj>
              </mc:Choice>
              <mc:Fallback>
                <p:oleObj name="Equation" r:id="rId11" imgW="876240" imgH="495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457325"/>
                        <a:ext cx="876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7" name="Object 13"/>
          <p:cNvGraphicFramePr>
            <a:graphicFrameLocks noChangeAspect="1"/>
          </p:cNvGraphicFramePr>
          <p:nvPr/>
        </p:nvGraphicFramePr>
        <p:xfrm>
          <a:off x="3962400" y="1465263"/>
          <a:ext cx="13303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0" name="Equation" r:id="rId13" imgW="1409400" imgH="469800" progId="Equation.DSMT4">
                  <p:embed/>
                </p:oleObj>
              </mc:Choice>
              <mc:Fallback>
                <p:oleObj name="Equation" r:id="rId13" imgW="1409400" imgH="469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465263"/>
                        <a:ext cx="13303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1079500" y="944563"/>
            <a:ext cx="474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当没有外磁场时</a:t>
            </a:r>
          </a:p>
        </p:txBody>
      </p:sp>
      <p:sp>
        <p:nvSpPr>
          <p:cNvPr id="41999" name="AutoShape 15"/>
          <p:cNvSpPr>
            <a:spLocks noChangeArrowheads="1"/>
          </p:cNvSpPr>
          <p:nvPr/>
        </p:nvSpPr>
        <p:spPr bwMode="auto">
          <a:xfrm>
            <a:off x="5724525" y="1374775"/>
            <a:ext cx="2217738" cy="649288"/>
          </a:xfrm>
          <a:prstGeom prst="wedgeEllipseCallout">
            <a:avLst>
              <a:gd name="adj1" fmla="val -63745"/>
              <a:gd name="adj2" fmla="val -4032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endParaRPr kumimoji="1" lang="zh-CN" altLang="zh-CN" sz="2800" b="1">
              <a:latin typeface="Times New Roman" pitchFamily="18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427163" y="5440363"/>
            <a:ext cx="7616825" cy="539750"/>
            <a:chOff x="144" y="1065"/>
            <a:chExt cx="5136" cy="340"/>
          </a:xfrm>
        </p:grpSpPr>
        <p:sp>
          <p:nvSpPr>
            <p:cNvPr id="14458" name="Text Box 17"/>
            <p:cNvSpPr txBox="1">
              <a:spLocks noChangeArrowheads="1"/>
            </p:cNvSpPr>
            <p:nvPr/>
          </p:nvSpPr>
          <p:spPr bwMode="auto">
            <a:xfrm>
              <a:off x="144" y="1065"/>
              <a:ext cx="51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latin typeface="Times New Roman" pitchFamily="18" charset="0"/>
                  <a:ea typeface="黑体" pitchFamily="2" charset="-122"/>
                </a:rPr>
                <a:t>附加磁矩            是抗磁质产生磁效应唯一的原因</a:t>
              </a:r>
            </a:p>
          </p:txBody>
        </p:sp>
        <p:graphicFrame>
          <p:nvGraphicFramePr>
            <p:cNvPr id="14353" name="Object 18"/>
            <p:cNvGraphicFramePr>
              <a:graphicFrameLocks noChangeAspect="1"/>
            </p:cNvGraphicFramePr>
            <p:nvPr/>
          </p:nvGraphicFramePr>
          <p:xfrm>
            <a:off x="1032" y="1122"/>
            <a:ext cx="58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1" name="Equation" r:id="rId15" imgW="863280" imgH="419040" progId="Equation.DSMT4">
                    <p:embed/>
                  </p:oleObj>
                </mc:Choice>
                <mc:Fallback>
                  <p:oleObj name="Equation" r:id="rId15" imgW="863280" imgH="41904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1122"/>
                          <a:ext cx="582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03" name="Text Box 19"/>
          <p:cNvSpPr txBox="1">
            <a:spLocks noChangeArrowheads="1"/>
          </p:cNvSpPr>
          <p:nvPr/>
        </p:nvSpPr>
        <p:spPr bwMode="auto">
          <a:xfrm>
            <a:off x="1058863" y="1901825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当有外磁场时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5270500" y="2760663"/>
            <a:ext cx="3327400" cy="1676400"/>
            <a:chOff x="0" y="2592"/>
            <a:chExt cx="2096" cy="1056"/>
          </a:xfrm>
        </p:grpSpPr>
        <p:sp>
          <p:nvSpPr>
            <p:cNvPr id="14456" name="Line 21"/>
            <p:cNvSpPr>
              <a:spLocks noChangeShapeType="1"/>
            </p:cNvSpPr>
            <p:nvPr/>
          </p:nvSpPr>
          <p:spPr bwMode="auto">
            <a:xfrm>
              <a:off x="0" y="2736"/>
              <a:ext cx="182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57" name="Line 22"/>
            <p:cNvSpPr>
              <a:spLocks noChangeShapeType="1"/>
            </p:cNvSpPr>
            <p:nvPr/>
          </p:nvSpPr>
          <p:spPr bwMode="auto">
            <a:xfrm>
              <a:off x="0" y="3648"/>
              <a:ext cx="1920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4352" name="Object 23"/>
            <p:cNvGraphicFramePr>
              <a:graphicFrameLocks noChangeAspect="1"/>
            </p:cNvGraphicFramePr>
            <p:nvPr/>
          </p:nvGraphicFramePr>
          <p:xfrm>
            <a:off x="1824" y="2592"/>
            <a:ext cx="27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2" name="Equation" r:id="rId17" imgW="431640" imgH="482400" progId="Equation.3">
                    <p:embed/>
                  </p:oleObj>
                </mc:Choice>
                <mc:Fallback>
                  <p:oleObj name="Equation" r:id="rId17" imgW="431640" imgH="4824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592"/>
                          <a:ext cx="27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08" name="AutoShape 24"/>
          <p:cNvSpPr>
            <a:spLocks noChangeArrowheads="1"/>
          </p:cNvSpPr>
          <p:nvPr/>
        </p:nvSpPr>
        <p:spPr bwMode="auto">
          <a:xfrm rot="-59400000">
            <a:off x="6257925" y="2166938"/>
            <a:ext cx="1143000" cy="3048000"/>
          </a:xfrm>
          <a:prstGeom prst="can">
            <a:avLst>
              <a:gd name="adj" fmla="val 39296"/>
            </a:avLst>
          </a:prstGeom>
          <a:gradFill rotWithShape="1">
            <a:gsLst>
              <a:gs pos="0">
                <a:schemeClr val="bg2">
                  <a:gamma/>
                  <a:shade val="46275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lin ang="0" scaled="1"/>
          </a:gradFill>
          <a:ln w="127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5516563" y="3113088"/>
            <a:ext cx="3124200" cy="1160462"/>
            <a:chOff x="3277" y="2767"/>
            <a:chExt cx="1968" cy="731"/>
          </a:xfrm>
        </p:grpSpPr>
        <p:sp>
          <p:nvSpPr>
            <p:cNvPr id="14448" name="Arc 26"/>
            <p:cNvSpPr>
              <a:spLocks/>
            </p:cNvSpPr>
            <p:nvPr/>
          </p:nvSpPr>
          <p:spPr bwMode="auto">
            <a:xfrm flipV="1">
              <a:off x="4429" y="2777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9" name="Arc 27"/>
            <p:cNvSpPr>
              <a:spLocks/>
            </p:cNvSpPr>
            <p:nvPr/>
          </p:nvSpPr>
          <p:spPr bwMode="auto">
            <a:xfrm flipV="1">
              <a:off x="4621" y="2777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50" name="Arc 28"/>
            <p:cNvSpPr>
              <a:spLocks/>
            </p:cNvSpPr>
            <p:nvPr/>
          </p:nvSpPr>
          <p:spPr bwMode="auto">
            <a:xfrm flipV="1">
              <a:off x="3277" y="2767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51" name="Arc 29"/>
            <p:cNvSpPr>
              <a:spLocks/>
            </p:cNvSpPr>
            <p:nvPr/>
          </p:nvSpPr>
          <p:spPr bwMode="auto">
            <a:xfrm flipV="1">
              <a:off x="3467" y="2778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52" name="Arc 30"/>
            <p:cNvSpPr>
              <a:spLocks/>
            </p:cNvSpPr>
            <p:nvPr/>
          </p:nvSpPr>
          <p:spPr bwMode="auto">
            <a:xfrm flipV="1">
              <a:off x="3659" y="2778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53" name="Arc 31"/>
            <p:cNvSpPr>
              <a:spLocks/>
            </p:cNvSpPr>
            <p:nvPr/>
          </p:nvSpPr>
          <p:spPr bwMode="auto">
            <a:xfrm flipV="1">
              <a:off x="3851" y="2778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54" name="Arc 32"/>
            <p:cNvSpPr>
              <a:spLocks/>
            </p:cNvSpPr>
            <p:nvPr/>
          </p:nvSpPr>
          <p:spPr bwMode="auto">
            <a:xfrm flipV="1">
              <a:off x="4043" y="2778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55" name="Arc 33"/>
            <p:cNvSpPr>
              <a:spLocks/>
            </p:cNvSpPr>
            <p:nvPr/>
          </p:nvSpPr>
          <p:spPr bwMode="auto">
            <a:xfrm flipV="1">
              <a:off x="4235" y="2778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018" name="Object 34"/>
          <p:cNvGraphicFramePr>
            <a:graphicFrameLocks noChangeAspect="1"/>
          </p:cNvGraphicFramePr>
          <p:nvPr/>
        </p:nvGraphicFramePr>
        <p:xfrm>
          <a:off x="6889750" y="3551238"/>
          <a:ext cx="3810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3" name="Equation" r:id="rId19" imgW="291960" imgH="317160" progId="Equation.3">
                  <p:embed/>
                </p:oleObj>
              </mc:Choice>
              <mc:Fallback>
                <p:oleObj name="Equation" r:id="rId19" imgW="291960" imgH="31716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3551238"/>
                        <a:ext cx="381000" cy="366712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4B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9" name="Line 35"/>
          <p:cNvSpPr>
            <a:spLocks noChangeShapeType="1"/>
          </p:cNvSpPr>
          <p:nvPr/>
        </p:nvSpPr>
        <p:spPr bwMode="auto">
          <a:xfrm flipH="1">
            <a:off x="4854575" y="3675063"/>
            <a:ext cx="617538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1228725" y="3233738"/>
            <a:ext cx="387350" cy="838200"/>
            <a:chOff x="1244" y="1872"/>
            <a:chExt cx="244" cy="528"/>
          </a:xfrm>
        </p:grpSpPr>
        <p:grpSp>
          <p:nvGrpSpPr>
            <p:cNvPr id="14438" name="Group 37"/>
            <p:cNvGrpSpPr>
              <a:grpSpLocks/>
            </p:cNvGrpSpPr>
            <p:nvPr/>
          </p:nvGrpSpPr>
          <p:grpSpPr bwMode="auto">
            <a:xfrm>
              <a:off x="1244" y="1872"/>
              <a:ext cx="240" cy="336"/>
              <a:chOff x="3692" y="3792"/>
              <a:chExt cx="240" cy="336"/>
            </a:xfrm>
          </p:grpSpPr>
          <p:grpSp>
            <p:nvGrpSpPr>
              <p:cNvPr id="14442" name="Group 38"/>
              <p:cNvGrpSpPr>
                <a:grpSpLocks/>
              </p:cNvGrpSpPr>
              <p:nvPr/>
            </p:nvGrpSpPr>
            <p:grpSpPr bwMode="auto">
              <a:xfrm rot="17894606" flipH="1">
                <a:off x="3764" y="3960"/>
                <a:ext cx="144" cy="192"/>
                <a:chOff x="3452" y="672"/>
                <a:chExt cx="240" cy="212"/>
              </a:xfrm>
            </p:grpSpPr>
            <p:sp>
              <p:nvSpPr>
                <p:cNvPr id="14446" name="Oval 39"/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47" name="Line 40"/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3" name="Group 41"/>
              <p:cNvGrpSpPr>
                <a:grpSpLocks/>
              </p:cNvGrpSpPr>
              <p:nvPr/>
            </p:nvGrpSpPr>
            <p:grpSpPr bwMode="auto">
              <a:xfrm rot="17894606" flipH="1">
                <a:off x="3716" y="3768"/>
                <a:ext cx="144" cy="192"/>
                <a:chOff x="3452" y="672"/>
                <a:chExt cx="240" cy="212"/>
              </a:xfrm>
            </p:grpSpPr>
            <p:sp>
              <p:nvSpPr>
                <p:cNvPr id="14444" name="Oval 42"/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45" name="Line 43"/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439" name="Group 44"/>
            <p:cNvGrpSpPr>
              <a:grpSpLocks/>
            </p:cNvGrpSpPr>
            <p:nvPr/>
          </p:nvGrpSpPr>
          <p:grpSpPr bwMode="auto">
            <a:xfrm rot="17894606" flipH="1">
              <a:off x="1320" y="2232"/>
              <a:ext cx="144" cy="192"/>
              <a:chOff x="3452" y="672"/>
              <a:chExt cx="240" cy="212"/>
            </a:xfrm>
          </p:grpSpPr>
          <p:sp>
            <p:nvSpPr>
              <p:cNvPr id="14440" name="Oval 45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41" name="Line 46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Group 47"/>
          <p:cNvGrpSpPr>
            <a:grpSpLocks/>
          </p:cNvGrpSpPr>
          <p:nvPr/>
        </p:nvGrpSpPr>
        <p:grpSpPr bwMode="auto">
          <a:xfrm>
            <a:off x="1609725" y="3233738"/>
            <a:ext cx="387350" cy="838200"/>
            <a:chOff x="1484" y="1872"/>
            <a:chExt cx="244" cy="528"/>
          </a:xfrm>
        </p:grpSpPr>
        <p:grpSp>
          <p:nvGrpSpPr>
            <p:cNvPr id="14428" name="Group 48"/>
            <p:cNvGrpSpPr>
              <a:grpSpLocks/>
            </p:cNvGrpSpPr>
            <p:nvPr/>
          </p:nvGrpSpPr>
          <p:grpSpPr bwMode="auto">
            <a:xfrm>
              <a:off x="1484" y="1872"/>
              <a:ext cx="240" cy="336"/>
              <a:chOff x="3932" y="3792"/>
              <a:chExt cx="240" cy="336"/>
            </a:xfrm>
          </p:grpSpPr>
          <p:grpSp>
            <p:nvGrpSpPr>
              <p:cNvPr id="14432" name="Group 49"/>
              <p:cNvGrpSpPr>
                <a:grpSpLocks/>
              </p:cNvGrpSpPr>
              <p:nvPr/>
            </p:nvGrpSpPr>
            <p:grpSpPr bwMode="auto">
              <a:xfrm rot="17894606" flipH="1">
                <a:off x="3956" y="3768"/>
                <a:ext cx="144" cy="192"/>
                <a:chOff x="3452" y="672"/>
                <a:chExt cx="240" cy="212"/>
              </a:xfrm>
            </p:grpSpPr>
            <p:sp>
              <p:nvSpPr>
                <p:cNvPr id="14436" name="Oval 50"/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37" name="Line 51"/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33" name="Group 52"/>
              <p:cNvGrpSpPr>
                <a:grpSpLocks/>
              </p:cNvGrpSpPr>
              <p:nvPr/>
            </p:nvGrpSpPr>
            <p:grpSpPr bwMode="auto">
              <a:xfrm rot="17894606" flipH="1">
                <a:off x="4004" y="3960"/>
                <a:ext cx="144" cy="192"/>
                <a:chOff x="3452" y="672"/>
                <a:chExt cx="240" cy="212"/>
              </a:xfrm>
            </p:grpSpPr>
            <p:sp>
              <p:nvSpPr>
                <p:cNvPr id="14434" name="Oval 53"/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35" name="Line 54"/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429" name="Group 55"/>
            <p:cNvGrpSpPr>
              <a:grpSpLocks/>
            </p:cNvGrpSpPr>
            <p:nvPr/>
          </p:nvGrpSpPr>
          <p:grpSpPr bwMode="auto">
            <a:xfrm rot="17894606" flipH="1">
              <a:off x="1560" y="2232"/>
              <a:ext cx="144" cy="192"/>
              <a:chOff x="3452" y="672"/>
              <a:chExt cx="240" cy="212"/>
            </a:xfrm>
          </p:grpSpPr>
          <p:sp>
            <p:nvSpPr>
              <p:cNvPr id="14430" name="Oval 56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31" name="Line 57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Group 58"/>
          <p:cNvGrpSpPr>
            <a:grpSpLocks/>
          </p:cNvGrpSpPr>
          <p:nvPr/>
        </p:nvGrpSpPr>
        <p:grpSpPr bwMode="auto">
          <a:xfrm>
            <a:off x="2371725" y="3233738"/>
            <a:ext cx="387350" cy="838200"/>
            <a:chOff x="1964" y="1872"/>
            <a:chExt cx="244" cy="528"/>
          </a:xfrm>
        </p:grpSpPr>
        <p:grpSp>
          <p:nvGrpSpPr>
            <p:cNvPr id="14418" name="Group 59"/>
            <p:cNvGrpSpPr>
              <a:grpSpLocks/>
            </p:cNvGrpSpPr>
            <p:nvPr/>
          </p:nvGrpSpPr>
          <p:grpSpPr bwMode="auto">
            <a:xfrm>
              <a:off x="1964" y="1872"/>
              <a:ext cx="240" cy="336"/>
              <a:chOff x="4316" y="3792"/>
              <a:chExt cx="240" cy="336"/>
            </a:xfrm>
          </p:grpSpPr>
          <p:grpSp>
            <p:nvGrpSpPr>
              <p:cNvPr id="14422" name="Group 60"/>
              <p:cNvGrpSpPr>
                <a:grpSpLocks/>
              </p:cNvGrpSpPr>
              <p:nvPr/>
            </p:nvGrpSpPr>
            <p:grpSpPr bwMode="auto">
              <a:xfrm rot="17894606" flipH="1">
                <a:off x="4340" y="3768"/>
                <a:ext cx="144" cy="192"/>
                <a:chOff x="3452" y="672"/>
                <a:chExt cx="240" cy="212"/>
              </a:xfrm>
            </p:grpSpPr>
            <p:sp>
              <p:nvSpPr>
                <p:cNvPr id="14426" name="Oval 61"/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27" name="Line 62"/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23" name="Group 63"/>
              <p:cNvGrpSpPr>
                <a:grpSpLocks/>
              </p:cNvGrpSpPr>
              <p:nvPr/>
            </p:nvGrpSpPr>
            <p:grpSpPr bwMode="auto">
              <a:xfrm rot="17894606" flipH="1">
                <a:off x="4388" y="3960"/>
                <a:ext cx="144" cy="192"/>
                <a:chOff x="3452" y="672"/>
                <a:chExt cx="240" cy="212"/>
              </a:xfrm>
            </p:grpSpPr>
            <p:sp>
              <p:nvSpPr>
                <p:cNvPr id="14424" name="Oval 64"/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25" name="Line 65"/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419" name="Group 66"/>
            <p:cNvGrpSpPr>
              <a:grpSpLocks/>
            </p:cNvGrpSpPr>
            <p:nvPr/>
          </p:nvGrpSpPr>
          <p:grpSpPr bwMode="auto">
            <a:xfrm rot="17894606" flipH="1">
              <a:off x="2040" y="2232"/>
              <a:ext cx="144" cy="192"/>
              <a:chOff x="3452" y="672"/>
              <a:chExt cx="240" cy="212"/>
            </a:xfrm>
          </p:grpSpPr>
          <p:sp>
            <p:nvSpPr>
              <p:cNvPr id="14420" name="Oval 67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1" name="Line 68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" name="Group 69"/>
          <p:cNvGrpSpPr>
            <a:grpSpLocks/>
          </p:cNvGrpSpPr>
          <p:nvPr/>
        </p:nvGrpSpPr>
        <p:grpSpPr bwMode="auto">
          <a:xfrm>
            <a:off x="1997075" y="3233738"/>
            <a:ext cx="381000" cy="838200"/>
            <a:chOff x="1728" y="1872"/>
            <a:chExt cx="240" cy="528"/>
          </a:xfrm>
        </p:grpSpPr>
        <p:grpSp>
          <p:nvGrpSpPr>
            <p:cNvPr id="14408" name="Group 70"/>
            <p:cNvGrpSpPr>
              <a:grpSpLocks/>
            </p:cNvGrpSpPr>
            <p:nvPr/>
          </p:nvGrpSpPr>
          <p:grpSpPr bwMode="auto">
            <a:xfrm>
              <a:off x="1728" y="1872"/>
              <a:ext cx="240" cy="336"/>
              <a:chOff x="4124" y="3792"/>
              <a:chExt cx="240" cy="336"/>
            </a:xfrm>
          </p:grpSpPr>
          <p:grpSp>
            <p:nvGrpSpPr>
              <p:cNvPr id="14412" name="Group 71"/>
              <p:cNvGrpSpPr>
                <a:grpSpLocks/>
              </p:cNvGrpSpPr>
              <p:nvPr/>
            </p:nvGrpSpPr>
            <p:grpSpPr bwMode="auto">
              <a:xfrm rot="17894606" flipH="1">
                <a:off x="4148" y="3768"/>
                <a:ext cx="144" cy="192"/>
                <a:chOff x="3452" y="672"/>
                <a:chExt cx="240" cy="212"/>
              </a:xfrm>
            </p:grpSpPr>
            <p:sp>
              <p:nvSpPr>
                <p:cNvPr id="14416" name="Oval 72"/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17" name="Line 73"/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13" name="Group 74"/>
              <p:cNvGrpSpPr>
                <a:grpSpLocks/>
              </p:cNvGrpSpPr>
              <p:nvPr/>
            </p:nvGrpSpPr>
            <p:grpSpPr bwMode="auto">
              <a:xfrm rot="17894606" flipH="1">
                <a:off x="4196" y="3960"/>
                <a:ext cx="144" cy="192"/>
                <a:chOff x="3452" y="672"/>
                <a:chExt cx="240" cy="212"/>
              </a:xfrm>
            </p:grpSpPr>
            <p:sp>
              <p:nvSpPr>
                <p:cNvPr id="14414" name="Oval 75"/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15" name="Line 76"/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409" name="Group 77"/>
            <p:cNvGrpSpPr>
              <a:grpSpLocks/>
            </p:cNvGrpSpPr>
            <p:nvPr/>
          </p:nvGrpSpPr>
          <p:grpSpPr bwMode="auto">
            <a:xfrm rot="17894606" flipH="1">
              <a:off x="1800" y="2232"/>
              <a:ext cx="144" cy="192"/>
              <a:chOff x="3452" y="672"/>
              <a:chExt cx="240" cy="212"/>
            </a:xfrm>
          </p:grpSpPr>
          <p:sp>
            <p:nvSpPr>
              <p:cNvPr id="14410" name="Oval 78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11" name="Line 79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5" name="Group 80"/>
          <p:cNvGrpSpPr>
            <a:grpSpLocks/>
          </p:cNvGrpSpPr>
          <p:nvPr/>
        </p:nvGrpSpPr>
        <p:grpSpPr bwMode="auto">
          <a:xfrm>
            <a:off x="2759075" y="3233738"/>
            <a:ext cx="381000" cy="838200"/>
            <a:chOff x="2208" y="1872"/>
            <a:chExt cx="240" cy="528"/>
          </a:xfrm>
        </p:grpSpPr>
        <p:grpSp>
          <p:nvGrpSpPr>
            <p:cNvPr id="14398" name="Group 81"/>
            <p:cNvGrpSpPr>
              <a:grpSpLocks/>
            </p:cNvGrpSpPr>
            <p:nvPr/>
          </p:nvGrpSpPr>
          <p:grpSpPr bwMode="auto">
            <a:xfrm rot="17894606" flipH="1">
              <a:off x="2280" y="2232"/>
              <a:ext cx="144" cy="192"/>
              <a:chOff x="3452" y="672"/>
              <a:chExt cx="240" cy="212"/>
            </a:xfrm>
          </p:grpSpPr>
          <p:sp>
            <p:nvSpPr>
              <p:cNvPr id="14406" name="Oval 82"/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07" name="Line 83"/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399" name="Group 84"/>
            <p:cNvGrpSpPr>
              <a:grpSpLocks/>
            </p:cNvGrpSpPr>
            <p:nvPr/>
          </p:nvGrpSpPr>
          <p:grpSpPr bwMode="auto">
            <a:xfrm>
              <a:off x="2208" y="1872"/>
              <a:ext cx="240" cy="336"/>
              <a:chOff x="4316" y="3792"/>
              <a:chExt cx="240" cy="336"/>
            </a:xfrm>
          </p:grpSpPr>
          <p:grpSp>
            <p:nvGrpSpPr>
              <p:cNvPr id="14400" name="Group 85"/>
              <p:cNvGrpSpPr>
                <a:grpSpLocks/>
              </p:cNvGrpSpPr>
              <p:nvPr/>
            </p:nvGrpSpPr>
            <p:grpSpPr bwMode="auto">
              <a:xfrm rot="17894606" flipH="1">
                <a:off x="4340" y="3768"/>
                <a:ext cx="144" cy="192"/>
                <a:chOff x="3452" y="672"/>
                <a:chExt cx="240" cy="212"/>
              </a:xfrm>
            </p:grpSpPr>
            <p:sp>
              <p:nvSpPr>
                <p:cNvPr id="14404" name="Oval 86"/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05" name="Line 87"/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01" name="Group 88"/>
              <p:cNvGrpSpPr>
                <a:grpSpLocks/>
              </p:cNvGrpSpPr>
              <p:nvPr/>
            </p:nvGrpSpPr>
            <p:grpSpPr bwMode="auto">
              <a:xfrm rot="17894606" flipH="1">
                <a:off x="4388" y="3960"/>
                <a:ext cx="144" cy="192"/>
                <a:chOff x="3452" y="672"/>
                <a:chExt cx="240" cy="212"/>
              </a:xfrm>
            </p:grpSpPr>
            <p:sp>
              <p:nvSpPr>
                <p:cNvPr id="14402" name="Oval 89"/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403" name="Line 90"/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0" name="Group 91"/>
          <p:cNvGrpSpPr>
            <a:grpSpLocks/>
          </p:cNvGrpSpPr>
          <p:nvPr/>
        </p:nvGrpSpPr>
        <p:grpSpPr bwMode="auto">
          <a:xfrm>
            <a:off x="1169988" y="4327525"/>
            <a:ext cx="4914900" cy="592138"/>
            <a:chOff x="419" y="2296"/>
            <a:chExt cx="3096" cy="373"/>
          </a:xfrm>
        </p:grpSpPr>
        <p:graphicFrame>
          <p:nvGraphicFramePr>
            <p:cNvPr id="14351" name="Object 92"/>
            <p:cNvGraphicFramePr>
              <a:graphicFrameLocks noChangeAspect="1"/>
            </p:cNvGraphicFramePr>
            <p:nvPr/>
          </p:nvGraphicFramePr>
          <p:xfrm>
            <a:off x="419" y="2303"/>
            <a:ext cx="1209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4" name="Equation" r:id="rId21" imgW="1765080" imgH="533160" progId="Equation.DSMT4">
                    <p:embed/>
                  </p:oleObj>
                </mc:Choice>
                <mc:Fallback>
                  <p:oleObj name="Equation" r:id="rId21" imgW="1765080" imgH="533160" progId="Equation.DSMT4">
                    <p:embed/>
                    <p:pic>
                      <p:nvPicPr>
                        <p:cNvPr id="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" y="2303"/>
                          <a:ext cx="1209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97" name="Text Box 93"/>
            <p:cNvSpPr txBox="1">
              <a:spLocks noChangeArrowheads="1"/>
            </p:cNvSpPr>
            <p:nvPr/>
          </p:nvSpPr>
          <p:spPr bwMode="auto">
            <a:xfrm>
              <a:off x="975" y="2296"/>
              <a:ext cx="25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latin typeface="Times New Roman" pitchFamily="18" charset="0"/>
                </a:rPr>
                <a:t> </a:t>
              </a:r>
              <a:r>
                <a:rPr kumimoji="1" lang="zh-CN" altLang="en-US" sz="2800" b="1">
                  <a:latin typeface="Times New Roman" pitchFamily="18" charset="0"/>
                </a:rPr>
                <a:t>与     方向相反</a:t>
              </a:r>
            </a:p>
          </p:txBody>
        </p:sp>
      </p:grpSp>
      <p:grpSp>
        <p:nvGrpSpPr>
          <p:cNvPr id="31" name="Group 94"/>
          <p:cNvGrpSpPr>
            <a:grpSpLocks/>
          </p:cNvGrpSpPr>
          <p:nvPr/>
        </p:nvGrpSpPr>
        <p:grpSpPr bwMode="auto">
          <a:xfrm>
            <a:off x="1476375" y="4892675"/>
            <a:ext cx="4035425" cy="590550"/>
            <a:chOff x="3218" y="2432"/>
            <a:chExt cx="2542" cy="372"/>
          </a:xfrm>
        </p:grpSpPr>
        <p:graphicFrame>
          <p:nvGraphicFramePr>
            <p:cNvPr id="14350" name="Object 95"/>
            <p:cNvGraphicFramePr>
              <a:graphicFrameLocks noChangeAspect="1"/>
            </p:cNvGraphicFramePr>
            <p:nvPr/>
          </p:nvGraphicFramePr>
          <p:xfrm>
            <a:off x="3218" y="2475"/>
            <a:ext cx="717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5" name="Equation" r:id="rId23" imgW="1079280" imgH="495000" progId="Equation.DSMT4">
                    <p:embed/>
                  </p:oleObj>
                </mc:Choice>
                <mc:Fallback>
                  <p:oleObj name="Equation" r:id="rId23" imgW="1079280" imgH="495000" progId="Equation.DSMT4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8" y="2475"/>
                          <a:ext cx="717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96" name="Rectangle 96"/>
            <p:cNvSpPr>
              <a:spLocks noChangeArrowheads="1"/>
            </p:cNvSpPr>
            <p:nvPr/>
          </p:nvSpPr>
          <p:spPr bwMode="auto">
            <a:xfrm>
              <a:off x="3379" y="2432"/>
              <a:ext cx="23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latin typeface="Times New Roman" pitchFamily="18" charset="0"/>
                </a:rPr>
                <a:t>与     方向也相反</a:t>
              </a:r>
              <a:r>
                <a:rPr kumimoji="1" lang="en-US" altLang="zh-CN" sz="2800" b="1">
                  <a:latin typeface="Times New Roman" pitchFamily="18" charset="0"/>
                </a:rPr>
                <a:t>,</a:t>
              </a:r>
            </a:p>
          </p:txBody>
        </p:sp>
      </p:grpSp>
      <p:grpSp>
        <p:nvGrpSpPr>
          <p:cNvPr id="14336" name="Group 97"/>
          <p:cNvGrpSpPr>
            <a:grpSpLocks/>
          </p:cNvGrpSpPr>
          <p:nvPr/>
        </p:nvGrpSpPr>
        <p:grpSpPr bwMode="auto">
          <a:xfrm>
            <a:off x="4643438" y="4876800"/>
            <a:ext cx="3529012" cy="519113"/>
            <a:chOff x="2925" y="2876"/>
            <a:chExt cx="2223" cy="327"/>
          </a:xfrm>
        </p:grpSpPr>
        <p:sp>
          <p:nvSpPr>
            <p:cNvPr id="14395" name="Text Box 98"/>
            <p:cNvSpPr txBox="1">
              <a:spLocks noChangeArrowheads="1"/>
            </p:cNvSpPr>
            <p:nvPr/>
          </p:nvSpPr>
          <p:spPr bwMode="auto">
            <a:xfrm>
              <a:off x="2925" y="2876"/>
              <a:ext cx="222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>
                  <a:latin typeface="Times New Roman" pitchFamily="18" charset="0"/>
                </a:rPr>
                <a:t>所以抗磁体内</a:t>
              </a:r>
            </a:p>
          </p:txBody>
        </p:sp>
        <p:graphicFrame>
          <p:nvGraphicFramePr>
            <p:cNvPr id="14349" name="Object 99"/>
            <p:cNvGraphicFramePr>
              <a:graphicFrameLocks noChangeAspect="1"/>
            </p:cNvGraphicFramePr>
            <p:nvPr/>
          </p:nvGraphicFramePr>
          <p:xfrm>
            <a:off x="4369" y="2931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6" name="Equation" r:id="rId25" imgW="1028520" imgH="431640" progId="Equation.DSMT4">
                    <p:embed/>
                  </p:oleObj>
                </mc:Choice>
                <mc:Fallback>
                  <p:oleObj name="Equation" r:id="rId25" imgW="1028520" imgH="431640" progId="Equation.DSMT4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9" y="2931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84" name="Text Box 100"/>
          <p:cNvSpPr txBox="1">
            <a:spLocks noChangeArrowheads="1"/>
          </p:cNvSpPr>
          <p:nvPr/>
        </p:nvSpPr>
        <p:spPr bwMode="auto">
          <a:xfrm>
            <a:off x="395288" y="5622925"/>
            <a:ext cx="1828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注：</a:t>
            </a:r>
          </a:p>
        </p:txBody>
      </p:sp>
      <p:sp>
        <p:nvSpPr>
          <p:cNvPr id="42085" name="Text Box 101"/>
          <p:cNvSpPr txBox="1">
            <a:spLocks noChangeArrowheads="1"/>
          </p:cNvSpPr>
          <p:nvPr/>
        </p:nvSpPr>
        <p:spPr bwMode="auto">
          <a:xfrm>
            <a:off x="1042988" y="6005513"/>
            <a:ext cx="8101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itchFamily="18" charset="0"/>
                <a:ea typeface="黑体" pitchFamily="2" charset="-122"/>
              </a:rPr>
              <a:t>表面分子磁化电流不是自由电荷定向运动形成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！</a:t>
            </a:r>
          </a:p>
        </p:txBody>
      </p:sp>
      <p:sp>
        <p:nvSpPr>
          <p:cNvPr id="42087" name="Text Box 103"/>
          <p:cNvSpPr txBox="1">
            <a:spLocks noChangeArrowheads="1"/>
          </p:cNvSpPr>
          <p:nvPr/>
        </p:nvSpPr>
        <p:spPr bwMode="auto">
          <a:xfrm>
            <a:off x="5940425" y="1446213"/>
            <a:ext cx="2900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itchFamily="18" charset="0"/>
              </a:rPr>
              <a:t>不显磁性</a:t>
            </a:r>
          </a:p>
        </p:txBody>
      </p:sp>
      <p:grpSp>
        <p:nvGrpSpPr>
          <p:cNvPr id="14337" name="Group 104"/>
          <p:cNvGrpSpPr>
            <a:grpSpLocks/>
          </p:cNvGrpSpPr>
          <p:nvPr/>
        </p:nvGrpSpPr>
        <p:grpSpPr bwMode="auto">
          <a:xfrm>
            <a:off x="2563813" y="333375"/>
            <a:ext cx="1949450" cy="523875"/>
            <a:chOff x="1879" y="605"/>
            <a:chExt cx="1228" cy="330"/>
          </a:xfrm>
        </p:grpSpPr>
        <p:graphicFrame>
          <p:nvGraphicFramePr>
            <p:cNvPr id="14348" name="Object 105"/>
            <p:cNvGraphicFramePr>
              <a:graphicFrameLocks noChangeAspect="1"/>
            </p:cNvGraphicFramePr>
            <p:nvPr/>
          </p:nvGraphicFramePr>
          <p:xfrm>
            <a:off x="1879" y="639"/>
            <a:ext cx="48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7" name="Equation" r:id="rId27" imgW="761760" imgH="469800" progId="Equation.DSMT4">
                    <p:embed/>
                  </p:oleObj>
                </mc:Choice>
                <mc:Fallback>
                  <p:oleObj name="Equation" r:id="rId27" imgW="761760" imgH="469800" progId="Equation.DSMT4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9" y="639"/>
                          <a:ext cx="48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93" name="Line 106"/>
            <p:cNvSpPr>
              <a:spLocks noChangeShapeType="1"/>
            </p:cNvSpPr>
            <p:nvPr/>
          </p:nvSpPr>
          <p:spPr bwMode="auto">
            <a:xfrm>
              <a:off x="1927" y="686"/>
              <a:ext cx="10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 type="arrow" w="sm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4" name="Text Box 107"/>
            <p:cNvSpPr txBox="1">
              <a:spLocks noChangeArrowheads="1"/>
            </p:cNvSpPr>
            <p:nvPr/>
          </p:nvSpPr>
          <p:spPr bwMode="auto">
            <a:xfrm>
              <a:off x="2339" y="605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>
                  <a:latin typeface="Times New Roman" pitchFamily="18" charset="0"/>
                </a:rPr>
                <a:t>＝ </a:t>
              </a:r>
              <a:r>
                <a:rPr kumimoji="1" lang="en-US" altLang="zh-CN" sz="2800" b="1">
                  <a:latin typeface="Times New Roman" pitchFamily="18" charset="0"/>
                </a:rPr>
                <a:t>0</a:t>
              </a:r>
            </a:p>
          </p:txBody>
        </p:sp>
      </p:grpSp>
      <p:grpSp>
        <p:nvGrpSpPr>
          <p:cNvPr id="14338" name="Group 108"/>
          <p:cNvGrpSpPr>
            <a:grpSpLocks/>
          </p:cNvGrpSpPr>
          <p:nvPr/>
        </p:nvGrpSpPr>
        <p:grpSpPr bwMode="auto">
          <a:xfrm>
            <a:off x="4999038" y="260350"/>
            <a:ext cx="1912937" cy="792163"/>
            <a:chOff x="3787" y="210"/>
            <a:chExt cx="1205" cy="499"/>
          </a:xfrm>
        </p:grpSpPr>
        <p:sp>
          <p:nvSpPr>
            <p:cNvPr id="14388" name="Rectangle 109" descr="信纸"/>
            <p:cNvSpPr>
              <a:spLocks noChangeArrowheads="1"/>
            </p:cNvSpPr>
            <p:nvPr/>
          </p:nvSpPr>
          <p:spPr bwMode="auto">
            <a:xfrm>
              <a:off x="3923" y="300"/>
              <a:ext cx="768" cy="363"/>
            </a:xfrm>
            <a:prstGeom prst="rect">
              <a:avLst/>
            </a:prstGeom>
            <a:blipFill dpi="0" rotWithShape="1">
              <a:blip r:embed="rId2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9" name="Line 110"/>
            <p:cNvSpPr>
              <a:spLocks noChangeShapeType="1"/>
            </p:cNvSpPr>
            <p:nvPr/>
          </p:nvSpPr>
          <p:spPr bwMode="auto">
            <a:xfrm>
              <a:off x="4135" y="526"/>
              <a:ext cx="383" cy="1"/>
            </a:xfrm>
            <a:prstGeom prst="line">
              <a:avLst/>
            </a:prstGeom>
            <a:noFill/>
            <a:ln w="28575">
              <a:solidFill>
                <a:srgbClr val="00006E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4346" name="Object 111"/>
            <p:cNvGraphicFramePr>
              <a:graphicFrameLocks noChangeAspect="1"/>
            </p:cNvGraphicFramePr>
            <p:nvPr/>
          </p:nvGraphicFramePr>
          <p:xfrm>
            <a:off x="4241" y="301"/>
            <a:ext cx="28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8" name="公式" r:id="rId30" imgW="342720" imgH="317160" progId="Equation.3">
                    <p:embed/>
                  </p:oleObj>
                </mc:Choice>
                <mc:Fallback>
                  <p:oleObj name="公式" r:id="rId30" imgW="342720" imgH="317160" progId="Equation.3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01"/>
                          <a:ext cx="28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90" name="Group 112"/>
            <p:cNvGrpSpPr>
              <a:grpSpLocks/>
            </p:cNvGrpSpPr>
            <p:nvPr/>
          </p:nvGrpSpPr>
          <p:grpSpPr bwMode="auto">
            <a:xfrm>
              <a:off x="3787" y="210"/>
              <a:ext cx="1205" cy="499"/>
              <a:chOff x="2018" y="1105"/>
              <a:chExt cx="1205" cy="524"/>
            </a:xfrm>
          </p:grpSpPr>
          <p:sp>
            <p:nvSpPr>
              <p:cNvPr id="14391" name="Line 113"/>
              <p:cNvSpPr>
                <a:spLocks noChangeShapeType="1"/>
              </p:cNvSpPr>
              <p:nvPr/>
            </p:nvSpPr>
            <p:spPr bwMode="auto">
              <a:xfrm>
                <a:off x="2018" y="1105"/>
                <a:ext cx="1088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392" name="Line 114"/>
              <p:cNvSpPr>
                <a:spLocks noChangeShapeType="1"/>
              </p:cNvSpPr>
              <p:nvPr/>
            </p:nvSpPr>
            <p:spPr bwMode="auto">
              <a:xfrm>
                <a:off x="2018" y="1629"/>
                <a:ext cx="11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4347" name="Object 115"/>
              <p:cNvGraphicFramePr>
                <a:graphicFrameLocks noChangeAspect="1"/>
              </p:cNvGraphicFramePr>
              <p:nvPr/>
            </p:nvGraphicFramePr>
            <p:xfrm>
              <a:off x="2967" y="1121"/>
              <a:ext cx="256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969" name="Equation" r:id="rId32" imgW="406080" imgH="495000" progId="Equation.DSMT4">
                      <p:embed/>
                    </p:oleObj>
                  </mc:Choice>
                  <mc:Fallback>
                    <p:oleObj name="Equation" r:id="rId32" imgW="406080" imgH="495000" progId="Equation.DSMT4">
                      <p:embed/>
                      <p:pic>
                        <p:nvPicPr>
                          <p:cNvPr id="0" name="Object 1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7" y="1121"/>
                            <a:ext cx="256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2100" name="Line 116"/>
          <p:cNvSpPr>
            <a:spLocks noChangeShapeType="1"/>
          </p:cNvSpPr>
          <p:nvPr/>
        </p:nvSpPr>
        <p:spPr bwMode="auto">
          <a:xfrm>
            <a:off x="1295400" y="3105150"/>
            <a:ext cx="1979613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40" name="Group 117"/>
          <p:cNvGrpSpPr>
            <a:grpSpLocks/>
          </p:cNvGrpSpPr>
          <p:nvPr/>
        </p:nvGrpSpPr>
        <p:grpSpPr bwMode="auto">
          <a:xfrm>
            <a:off x="3455988" y="3141663"/>
            <a:ext cx="1181100" cy="1181100"/>
            <a:chOff x="4649" y="142"/>
            <a:chExt cx="744" cy="744"/>
          </a:xfrm>
        </p:grpSpPr>
        <p:sp>
          <p:nvSpPr>
            <p:cNvPr id="14385" name="Oval 118"/>
            <p:cNvSpPr>
              <a:spLocks noChangeArrowheads="1"/>
            </p:cNvSpPr>
            <p:nvPr/>
          </p:nvSpPr>
          <p:spPr bwMode="auto">
            <a:xfrm>
              <a:off x="4649" y="142"/>
              <a:ext cx="744" cy="744"/>
            </a:xfrm>
            <a:prstGeom prst="ellipse">
              <a:avLst/>
            </a:prstGeom>
            <a:noFill/>
            <a:ln w="412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6" name="Oval 119"/>
            <p:cNvSpPr>
              <a:spLocks noChangeArrowheads="1"/>
            </p:cNvSpPr>
            <p:nvPr/>
          </p:nvSpPr>
          <p:spPr bwMode="auto">
            <a:xfrm>
              <a:off x="4693" y="190"/>
              <a:ext cx="655" cy="636"/>
            </a:xfrm>
            <a:prstGeom prst="ellipse">
              <a:avLst/>
            </a:prstGeom>
            <a:noFill/>
            <a:ln w="412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5" name="Object 120"/>
            <p:cNvGraphicFramePr>
              <a:graphicFrameLocks noChangeAspect="1"/>
            </p:cNvGraphicFramePr>
            <p:nvPr/>
          </p:nvGraphicFramePr>
          <p:xfrm>
            <a:off x="4778" y="361"/>
            <a:ext cx="263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70" name="Equation" r:id="rId34" imgW="355320" imgH="380880" progId="Equation.3">
                    <p:embed/>
                  </p:oleObj>
                </mc:Choice>
                <mc:Fallback>
                  <p:oleObj name="Equation" r:id="rId34" imgW="355320" imgH="380880" progId="Equation.3">
                    <p:embed/>
                    <p:pic>
                      <p:nvPicPr>
                        <p:cNvPr id="0" name="Object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8" y="361"/>
                          <a:ext cx="263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99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7" name="Line 121"/>
            <p:cNvSpPr>
              <a:spLocks noChangeShapeType="1"/>
            </p:cNvSpPr>
            <p:nvPr/>
          </p:nvSpPr>
          <p:spPr bwMode="auto">
            <a:xfrm>
              <a:off x="4693" y="414"/>
              <a:ext cx="0" cy="14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107" name="Line 123"/>
          <p:cNvSpPr>
            <a:spLocks noChangeShapeType="1"/>
          </p:cNvSpPr>
          <p:nvPr/>
        </p:nvSpPr>
        <p:spPr bwMode="auto">
          <a:xfrm>
            <a:off x="1277938" y="4313238"/>
            <a:ext cx="1979612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84" name="Text Box 75"/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13</a:t>
            </a: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2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6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500"/>
                                        <p:tgtEl>
                                          <p:spTgt spid="4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6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3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4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4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4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4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2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2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75" fill="hold"/>
                                        <p:tgtEl>
                                          <p:spTgt spid="42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75" fill="hold"/>
                                        <p:tgtEl>
                                          <p:spTgt spid="42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06" grpId="0" animBg="1"/>
      <p:bldP spid="41986" grpId="0" animBg="1"/>
      <p:bldP spid="41987" grpId="0" autoUpdateAnimBg="0"/>
      <p:bldP spid="41988" grpId="0" autoUpdateAnimBg="0"/>
      <p:bldP spid="41994" grpId="0" autoUpdateAnimBg="0"/>
      <p:bldP spid="41995" grpId="0" animBg="1"/>
      <p:bldP spid="41998" grpId="0" autoUpdateAnimBg="0"/>
      <p:bldP spid="41999" grpId="0" animBg="1" autoUpdateAnimBg="0"/>
      <p:bldP spid="42003" grpId="0" autoUpdateAnimBg="0"/>
      <p:bldP spid="42008" grpId="0" animBg="1"/>
      <p:bldP spid="42019" grpId="0" animBg="1"/>
      <p:bldP spid="42084" grpId="0" autoUpdateAnimBg="0"/>
      <p:bldP spid="42085" grpId="0" autoUpdateAnimBg="0"/>
      <p:bldP spid="42087" grpId="0"/>
      <p:bldP spid="42100" grpId="0" animBg="1"/>
      <p:bldP spid="42107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3132</TotalTime>
  <Words>184</Words>
  <Application>Microsoft Office PowerPoint</Application>
  <PresentationFormat>全屏显示(4:3)</PresentationFormat>
  <Paragraphs>54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黑体</vt:lpstr>
      <vt:lpstr>隶书</vt:lpstr>
      <vt:lpstr>宋体</vt:lpstr>
      <vt:lpstr>Arial</vt:lpstr>
      <vt:lpstr>Symbol</vt:lpstr>
      <vt:lpstr>Times New Roman</vt:lpstr>
      <vt:lpstr>Wingdings</vt:lpstr>
      <vt:lpstr>默认设计模板</vt:lpstr>
      <vt:lpstr>Equation</vt:lpstr>
      <vt:lpstr>公式</vt:lpstr>
      <vt:lpstr>剪辑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Xiaosong Zhu</cp:lastModifiedBy>
  <cp:revision>91</cp:revision>
  <cp:lastPrinted>1601-01-01T00:00:00Z</cp:lastPrinted>
  <dcterms:created xsi:type="dcterms:W3CDTF">1601-01-01T00:00:00Z</dcterms:created>
  <dcterms:modified xsi:type="dcterms:W3CDTF">2026-04-19T13:42:18Z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